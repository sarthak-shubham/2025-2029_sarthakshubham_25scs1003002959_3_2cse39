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57" r:id="rId3"/>
    <p:sldId id="258" r:id="rId4"/>
    <p:sldId id="259" r:id="rId5"/>
    <p:sldId id="260" r:id="rId6"/>
    <p:sldId id="261" r:id="rId7"/>
    <p:sldId id="262" r:id="rId8"/>
    <p:sldId id="263" r:id="rId9"/>
    <p:sldId id="264" r:id="rId10"/>
    <p:sldId id="265" r:id="rId11"/>
    <p:sldId id="266" r:id="rId12"/>
    <p:sldId id="269"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805B05-E798-F4C6-518C-B16A447BB02D}"/>
              </a:ext>
            </a:extLst>
          </p:cNvPr>
          <p:cNvPicPr>
            <a:picLocks noChangeAspect="1"/>
          </p:cNvPicPr>
          <p:nvPr/>
        </p:nvPicPr>
        <p:blipFill>
          <a:blip r:embed="rId2"/>
          <a:stretch>
            <a:fillRect/>
          </a:stretch>
        </p:blipFill>
        <p:spPr>
          <a:xfrm>
            <a:off x="1488" y="0"/>
            <a:ext cx="12189023" cy="6858000"/>
          </a:xfrm>
          <a:prstGeom prst="rect">
            <a:avLst/>
          </a:prstGeom>
        </p:spPr>
      </p:pic>
      <p:sp>
        <p:nvSpPr>
          <p:cNvPr id="4" name="Rectangle 3"/>
          <p:cNvSpPr/>
          <p:nvPr/>
        </p:nvSpPr>
        <p:spPr>
          <a:xfrm>
            <a:off x="0" y="1508760"/>
            <a:ext cx="608076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80760" y="960120"/>
            <a:ext cx="6108192" cy="5897880"/>
          </a:xfrm>
          <a:prstGeom prst="rect">
            <a:avLst/>
          </a:prstGeom>
          <a:solidFill>
            <a:srgbClr val="1E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755648"/>
            <a:ext cx="5303520" cy="256032"/>
          </a:xfrm>
          <a:prstGeom prst="rect">
            <a:avLst/>
          </a:prstGeom>
          <a:noFill/>
        </p:spPr>
        <p:txBody>
          <a:bodyPr wrap="square" anchor="t">
            <a:spAutoFit/>
          </a:bodyPr>
          <a:lstStyle/>
          <a:p>
            <a:pPr algn="l"/>
            <a:r>
              <a:rPr sz="1100" b="1" i="0">
                <a:solidFill>
                  <a:srgbClr val="2F5385"/>
                </a:solidFill>
                <a:latin typeface="Poppins"/>
              </a:rPr>
              <a:t>GOLDMAN SACHS – FORAGE JOB SIMULATION</a:t>
            </a:r>
          </a:p>
        </p:txBody>
      </p:sp>
      <p:sp>
        <p:nvSpPr>
          <p:cNvPr id="7" name="TextBox 6"/>
          <p:cNvSpPr txBox="1"/>
          <p:nvPr/>
        </p:nvSpPr>
        <p:spPr>
          <a:xfrm>
            <a:off x="320040" y="2148840"/>
            <a:ext cx="5394960" cy="1005840"/>
          </a:xfrm>
          <a:prstGeom prst="rect">
            <a:avLst/>
          </a:prstGeom>
          <a:noFill/>
        </p:spPr>
        <p:txBody>
          <a:bodyPr wrap="square" anchor="t">
            <a:spAutoFit/>
          </a:bodyPr>
          <a:lstStyle/>
          <a:p>
            <a:pPr algn="l"/>
            <a:r>
              <a:rPr sz="3100" b="1" i="0">
                <a:solidFill>
                  <a:srgbClr val="0A121E"/>
                </a:solidFill>
                <a:latin typeface="Poppins"/>
              </a:rPr>
              <a:t>Internal Audit
Job Simulation</a:t>
            </a:r>
          </a:p>
        </p:txBody>
      </p:sp>
      <p:sp>
        <p:nvSpPr>
          <p:cNvPr id="8" name="TextBox 7"/>
          <p:cNvSpPr txBox="1"/>
          <p:nvPr/>
        </p:nvSpPr>
        <p:spPr>
          <a:xfrm>
            <a:off x="320040" y="3273552"/>
            <a:ext cx="5120640" cy="502920"/>
          </a:xfrm>
          <a:prstGeom prst="rect">
            <a:avLst/>
          </a:prstGeom>
          <a:noFill/>
        </p:spPr>
        <p:txBody>
          <a:bodyPr wrap="square" anchor="t">
            <a:spAutoFit/>
          </a:bodyPr>
          <a:lstStyle/>
          <a:p>
            <a:pPr algn="l"/>
            <a:r>
              <a:rPr sz="1400" b="1" i="0">
                <a:solidFill>
                  <a:srgbClr val="375F87"/>
                </a:solidFill>
                <a:latin typeface="Inter"/>
              </a:rPr>
              <a:t>An Academic Internship / Job Simulation Presentation</a:t>
            </a:r>
          </a:p>
        </p:txBody>
      </p:sp>
      <p:sp>
        <p:nvSpPr>
          <p:cNvPr id="9" name="TextBox 8"/>
          <p:cNvSpPr txBox="1"/>
          <p:nvPr/>
        </p:nvSpPr>
        <p:spPr>
          <a:xfrm>
            <a:off x="320040" y="4892040"/>
            <a:ext cx="2011680" cy="201168"/>
          </a:xfrm>
          <a:prstGeom prst="rect">
            <a:avLst/>
          </a:prstGeom>
          <a:noFill/>
        </p:spPr>
        <p:txBody>
          <a:bodyPr wrap="square" anchor="t">
            <a:spAutoFit/>
          </a:bodyPr>
          <a:lstStyle/>
          <a:p>
            <a:pPr algn="l"/>
            <a:r>
              <a:rPr sz="1000" b="1" i="0">
                <a:solidFill>
                  <a:srgbClr val="5B7389"/>
                </a:solidFill>
                <a:latin typeface="Poppins"/>
              </a:rPr>
              <a:t>COMPLETION PERIOD</a:t>
            </a:r>
          </a:p>
        </p:txBody>
      </p:sp>
      <p:sp>
        <p:nvSpPr>
          <p:cNvPr id="10" name="TextBox 9"/>
          <p:cNvSpPr txBox="1"/>
          <p:nvPr/>
        </p:nvSpPr>
        <p:spPr>
          <a:xfrm>
            <a:off x="320040" y="5148072"/>
            <a:ext cx="3108960" cy="320040"/>
          </a:xfrm>
          <a:prstGeom prst="rect">
            <a:avLst/>
          </a:prstGeom>
          <a:noFill/>
        </p:spPr>
        <p:txBody>
          <a:bodyPr wrap="square" anchor="t">
            <a:spAutoFit/>
          </a:bodyPr>
          <a:lstStyle/>
          <a:p>
            <a:pPr algn="l"/>
            <a:r>
              <a:rPr sz="1300" b="1" i="0">
                <a:solidFill>
                  <a:srgbClr val="141F30"/>
                </a:solidFill>
                <a:latin typeface="Inter"/>
              </a:rPr>
              <a:t>September 2026</a:t>
            </a:r>
          </a:p>
        </p:txBody>
      </p:sp>
      <p:sp>
        <p:nvSpPr>
          <p:cNvPr id="11" name="TextBox 10"/>
          <p:cNvSpPr txBox="1"/>
          <p:nvPr/>
        </p:nvSpPr>
        <p:spPr>
          <a:xfrm>
            <a:off x="6629400" y="1417320"/>
            <a:ext cx="4480560" cy="292608"/>
          </a:xfrm>
          <a:prstGeom prst="rect">
            <a:avLst/>
          </a:prstGeom>
          <a:noFill/>
        </p:spPr>
        <p:txBody>
          <a:bodyPr wrap="square" anchor="t">
            <a:spAutoFit/>
          </a:bodyPr>
          <a:lstStyle/>
          <a:p>
            <a:pPr algn="l"/>
            <a:r>
              <a:rPr sz="1100" b="1" i="0">
                <a:solidFill>
                  <a:srgbClr val="98CAFF"/>
                </a:solidFill>
                <a:latin typeface="Poppins"/>
              </a:rPr>
              <a:t>STUDENT CREDENTIALS</a:t>
            </a:r>
          </a:p>
        </p:txBody>
      </p:sp>
      <p:sp>
        <p:nvSpPr>
          <p:cNvPr id="12" name="Rounded Rectangle 11"/>
          <p:cNvSpPr/>
          <p:nvPr/>
        </p:nvSpPr>
        <p:spPr>
          <a:xfrm>
            <a:off x="6537960" y="1828800"/>
            <a:ext cx="4983480" cy="1508760"/>
          </a:xfrm>
          <a:prstGeom prst="roundRect">
            <a:avLst/>
          </a:prstGeom>
          <a:solidFill>
            <a:srgbClr val="374D79"/>
          </a:solidFill>
          <a:ln>
            <a:solidFill>
              <a:srgbClr val="526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39712" y="2057400"/>
            <a:ext cx="4389120" cy="347472"/>
          </a:xfrm>
          <a:prstGeom prst="rect">
            <a:avLst/>
          </a:prstGeom>
          <a:noFill/>
        </p:spPr>
        <p:txBody>
          <a:bodyPr wrap="square" anchor="t">
            <a:spAutoFit/>
          </a:bodyPr>
          <a:lstStyle/>
          <a:p>
            <a:pPr algn="l"/>
            <a:r>
              <a:rPr sz="2100" b="1" i="0">
                <a:solidFill>
                  <a:srgbClr val="F5F7FA"/>
                </a:solidFill>
                <a:latin typeface="Poppins"/>
              </a:rPr>
              <a:t>Sarthak Shubham</a:t>
            </a:r>
          </a:p>
        </p:txBody>
      </p:sp>
      <p:sp>
        <p:nvSpPr>
          <p:cNvPr id="14" name="TextBox 13"/>
          <p:cNvSpPr txBox="1"/>
          <p:nvPr/>
        </p:nvSpPr>
        <p:spPr>
          <a:xfrm>
            <a:off x="6839712" y="2578608"/>
            <a:ext cx="4297680" cy="228600"/>
          </a:xfrm>
          <a:prstGeom prst="rect">
            <a:avLst/>
          </a:prstGeom>
          <a:noFill/>
        </p:spPr>
        <p:txBody>
          <a:bodyPr wrap="square" anchor="t">
            <a:spAutoFit/>
          </a:bodyPr>
          <a:lstStyle/>
          <a:p>
            <a:pPr algn="l"/>
            <a:r>
              <a:rPr sz="1150" b="0" i="0">
                <a:solidFill>
                  <a:srgbClr val="DCE4F0"/>
                </a:solidFill>
                <a:latin typeface="Inter"/>
              </a:rPr>
              <a:t>Roll No.: 25SCS1003002959</a:t>
            </a:r>
          </a:p>
        </p:txBody>
      </p:sp>
      <p:sp>
        <p:nvSpPr>
          <p:cNvPr id="15" name="TextBox 14"/>
          <p:cNvSpPr txBox="1"/>
          <p:nvPr/>
        </p:nvSpPr>
        <p:spPr>
          <a:xfrm>
            <a:off x="6839712" y="2889504"/>
            <a:ext cx="4297680" cy="228600"/>
          </a:xfrm>
          <a:prstGeom prst="rect">
            <a:avLst/>
          </a:prstGeom>
          <a:noFill/>
        </p:spPr>
        <p:txBody>
          <a:bodyPr wrap="square" anchor="t">
            <a:spAutoFit/>
          </a:bodyPr>
          <a:lstStyle/>
          <a:p>
            <a:pPr algn="l"/>
            <a:r>
              <a:rPr sz="1050" b="0" i="0">
                <a:solidFill>
                  <a:srgbClr val="DCE4F0"/>
                </a:solidFill>
                <a:latin typeface="Inter"/>
              </a:rPr>
              <a:t>B.Tech (Computer Science &amp; Engineering) • 2025–2029</a:t>
            </a:r>
          </a:p>
        </p:txBody>
      </p:sp>
      <p:sp>
        <p:nvSpPr>
          <p:cNvPr id="16" name="TextBox 15"/>
          <p:cNvSpPr txBox="1"/>
          <p:nvPr/>
        </p:nvSpPr>
        <p:spPr>
          <a:xfrm>
            <a:off x="6629400" y="4846320"/>
            <a:ext cx="4480560" cy="228600"/>
          </a:xfrm>
          <a:prstGeom prst="rect">
            <a:avLst/>
          </a:prstGeom>
          <a:noFill/>
        </p:spPr>
        <p:txBody>
          <a:bodyPr wrap="square" anchor="t">
            <a:spAutoFit/>
          </a:bodyPr>
          <a:lstStyle/>
          <a:p>
            <a:pPr algn="l"/>
            <a:r>
              <a:rPr sz="1200" b="1" i="0">
                <a:solidFill>
                  <a:srgbClr val="EBF4FF"/>
                </a:solidFill>
                <a:latin typeface="Inter"/>
              </a:rPr>
              <a:t>IILM University, Greater Noida, U.P.</a:t>
            </a:r>
          </a:p>
        </p:txBody>
      </p:sp>
      <p:sp>
        <p:nvSpPr>
          <p:cNvPr id="17" name="TextBox 16"/>
          <p:cNvSpPr txBox="1"/>
          <p:nvPr/>
        </p:nvSpPr>
        <p:spPr>
          <a:xfrm>
            <a:off x="6629400" y="5212080"/>
            <a:ext cx="4480560" cy="502920"/>
          </a:xfrm>
          <a:prstGeom prst="rect">
            <a:avLst/>
          </a:prstGeom>
          <a:noFill/>
        </p:spPr>
        <p:txBody>
          <a:bodyPr wrap="square" anchor="t">
            <a:spAutoFit/>
          </a:bodyPr>
          <a:lstStyle/>
          <a:p>
            <a:pPr algn="l"/>
            <a:r>
              <a:rPr sz="1500" b="1" i="0">
                <a:solidFill>
                  <a:srgbClr val="FFFFFF"/>
                </a:solidFill>
                <a:latin typeface="Poppins"/>
              </a:rPr>
              <a:t>Goldman Sachs
Internal Audit Job Simulation</a:t>
            </a:r>
          </a:p>
        </p:txBody>
      </p:sp>
      <p:sp>
        <p:nvSpPr>
          <p:cNvPr id="18" name="Rectangle 17"/>
          <p:cNvSpPr/>
          <p:nvPr/>
        </p:nvSpPr>
        <p:spPr>
          <a:xfrm>
            <a:off x="6080760" y="0"/>
            <a:ext cx="6108192" cy="1051560"/>
          </a:xfrm>
          <a:prstGeom prst="rect">
            <a:avLst/>
          </a:prstGeom>
          <a:solidFill>
            <a:srgbClr val="1E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292608"/>
            <a:ext cx="4480560" cy="274320"/>
          </a:xfrm>
          <a:prstGeom prst="rect">
            <a:avLst/>
          </a:prstGeom>
          <a:noFill/>
        </p:spPr>
        <p:txBody>
          <a:bodyPr wrap="square">
            <a:spAutoFit/>
          </a:bodyPr>
          <a:lstStyle/>
          <a:p>
            <a:r>
              <a:rPr sz="1100" b="1">
                <a:solidFill>
                  <a:srgbClr val="98CAFF"/>
                </a:solidFill>
                <a:latin typeface="Poppins"/>
              </a:rPr>
              <a:t>STUDENT CREDENTIALS</a:t>
            </a:r>
          </a:p>
        </p:txBody>
      </p:sp>
    </p:spTree>
    <p:extLst>
      <p:ext uri="{BB962C8B-B14F-4D97-AF65-F5344CB8AC3E}">
        <p14:creationId xmlns:p14="http://schemas.microsoft.com/office/powerpoint/2010/main" val="939934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6928" y="475488"/>
            <a:ext cx="10972800" cy="512064"/>
          </a:xfrm>
          <a:prstGeom prst="rect">
            <a:avLst/>
          </a:prstGeom>
          <a:noFill/>
        </p:spPr>
        <p:txBody>
          <a:bodyPr wrap="square" anchor="t">
            <a:spAutoFit/>
          </a:bodyPr>
          <a:lstStyle/>
          <a:p>
            <a:pPr algn="l"/>
            <a:r>
              <a:rPr sz="2500" b="1" i="0">
                <a:solidFill>
                  <a:srgbClr val="192743"/>
                </a:solidFill>
                <a:latin typeface="Poppins"/>
              </a:rPr>
              <a:t>Candidate &amp; Program Overview</a:t>
            </a:r>
          </a:p>
        </p:txBody>
      </p:sp>
      <p:sp>
        <p:nvSpPr>
          <p:cNvPr id="4" name="Rounded Rectangle 3"/>
          <p:cNvSpPr/>
          <p:nvPr/>
        </p:nvSpPr>
        <p:spPr>
          <a:xfrm>
            <a:off x="566928" y="2423160"/>
            <a:ext cx="5330952" cy="278892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91072" y="2423160"/>
            <a:ext cx="5330952" cy="278892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43200"/>
            <a:ext cx="4617720" cy="310896"/>
          </a:xfrm>
          <a:prstGeom prst="rect">
            <a:avLst/>
          </a:prstGeom>
          <a:noFill/>
        </p:spPr>
        <p:txBody>
          <a:bodyPr wrap="square" anchor="t">
            <a:spAutoFit/>
          </a:bodyPr>
          <a:lstStyle/>
          <a:p>
            <a:pPr algn="l"/>
            <a:r>
              <a:rPr sz="1500" b="1" i="0">
                <a:solidFill>
                  <a:srgbClr val="285291"/>
                </a:solidFill>
                <a:latin typeface="Poppins"/>
              </a:rPr>
              <a:t>Candidate Details</a:t>
            </a:r>
          </a:p>
        </p:txBody>
      </p:sp>
      <p:sp>
        <p:nvSpPr>
          <p:cNvPr id="7" name="TextBox 6"/>
          <p:cNvSpPr txBox="1"/>
          <p:nvPr/>
        </p:nvSpPr>
        <p:spPr>
          <a:xfrm>
            <a:off x="914400" y="3127248"/>
            <a:ext cx="4617720" cy="1673352"/>
          </a:xfrm>
          <a:prstGeom prst="rect">
            <a:avLst/>
          </a:prstGeom>
          <a:noFill/>
        </p:spPr>
        <p:txBody>
          <a:bodyPr wrap="square" anchor="t">
            <a:spAutoFit/>
          </a:bodyPr>
          <a:lstStyle/>
          <a:p>
            <a:pPr algn="l"/>
            <a:r>
              <a:rPr sz="1250" b="0" i="0">
                <a:solidFill>
                  <a:srgbClr val="464E5C"/>
                </a:solidFill>
                <a:latin typeface="Inter"/>
              </a:rPr>
              <a:t>Student Name: Sarthak Shubham
Roll Number: 25SCS1003002959
Degree: B.Tech (Computer Science &amp; Engineering)
Academic Batch: 2025–2029
University: IILM University, Greater Noida, U.P.</a:t>
            </a:r>
          </a:p>
        </p:txBody>
      </p:sp>
      <p:sp>
        <p:nvSpPr>
          <p:cNvPr id="8" name="TextBox 7"/>
          <p:cNvSpPr txBox="1"/>
          <p:nvPr/>
        </p:nvSpPr>
        <p:spPr>
          <a:xfrm>
            <a:off x="6638544" y="2743200"/>
            <a:ext cx="4617720" cy="310896"/>
          </a:xfrm>
          <a:prstGeom prst="rect">
            <a:avLst/>
          </a:prstGeom>
          <a:noFill/>
        </p:spPr>
        <p:txBody>
          <a:bodyPr wrap="square" anchor="t">
            <a:spAutoFit/>
          </a:bodyPr>
          <a:lstStyle/>
          <a:p>
            <a:pPr algn="l"/>
            <a:r>
              <a:rPr sz="1500" b="1" i="0">
                <a:solidFill>
                  <a:srgbClr val="285291"/>
                </a:solidFill>
                <a:latin typeface="Poppins"/>
              </a:rPr>
              <a:t>Simulation Profile</a:t>
            </a:r>
          </a:p>
        </p:txBody>
      </p:sp>
      <p:sp>
        <p:nvSpPr>
          <p:cNvPr id="9" name="TextBox 8"/>
          <p:cNvSpPr txBox="1"/>
          <p:nvPr/>
        </p:nvSpPr>
        <p:spPr>
          <a:xfrm>
            <a:off x="6638544" y="3127248"/>
            <a:ext cx="4617720" cy="1673352"/>
          </a:xfrm>
          <a:prstGeom prst="rect">
            <a:avLst/>
          </a:prstGeom>
          <a:noFill/>
        </p:spPr>
        <p:txBody>
          <a:bodyPr wrap="square" anchor="t">
            <a:spAutoFit/>
          </a:bodyPr>
          <a:lstStyle/>
          <a:p>
            <a:pPr algn="l"/>
            <a:r>
              <a:rPr sz="1250" b="0" i="0">
                <a:solidFill>
                  <a:srgbClr val="464E5C"/>
                </a:solidFill>
                <a:latin typeface="Inter"/>
              </a:rPr>
              <a:t>Program: Goldman Sachs – Internal Audit Job Simulation
Platform: Forage
Domain: Internal Audit, Risk &amp; Financial Operations
Completion Period: September 2026
Credential: Certificate of Completion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6928" y="475488"/>
            <a:ext cx="10972800" cy="512064"/>
          </a:xfrm>
          <a:prstGeom prst="rect">
            <a:avLst/>
          </a:prstGeom>
          <a:noFill/>
        </p:spPr>
        <p:txBody>
          <a:bodyPr wrap="square" anchor="t">
            <a:spAutoFit/>
          </a:bodyPr>
          <a:lstStyle/>
          <a:p>
            <a:pPr algn="l"/>
            <a:r>
              <a:rPr sz="2500" b="1" i="0">
                <a:solidFill>
                  <a:srgbClr val="192743"/>
                </a:solidFill>
                <a:latin typeface="Poppins"/>
              </a:rPr>
              <a:t>Organization &amp; Simulation Profile</a:t>
            </a:r>
          </a:p>
        </p:txBody>
      </p:sp>
      <p:sp>
        <p:nvSpPr>
          <p:cNvPr id="4" name="TextBox 3"/>
          <p:cNvSpPr txBox="1"/>
          <p:nvPr/>
        </p:nvSpPr>
        <p:spPr>
          <a:xfrm>
            <a:off x="566928" y="2011680"/>
            <a:ext cx="5257800" cy="310896"/>
          </a:xfrm>
          <a:prstGeom prst="rect">
            <a:avLst/>
          </a:prstGeom>
          <a:noFill/>
        </p:spPr>
        <p:txBody>
          <a:bodyPr wrap="square" anchor="t">
            <a:spAutoFit/>
          </a:bodyPr>
          <a:lstStyle/>
          <a:p>
            <a:pPr algn="l"/>
            <a:r>
              <a:rPr sz="1500" b="1" i="0">
                <a:solidFill>
                  <a:srgbClr val="285291"/>
                </a:solidFill>
                <a:latin typeface="Poppins"/>
              </a:rPr>
              <a:t>Goldman Sachs</a:t>
            </a:r>
          </a:p>
        </p:txBody>
      </p:sp>
      <p:sp>
        <p:nvSpPr>
          <p:cNvPr id="5" name="TextBox 4"/>
          <p:cNvSpPr txBox="1"/>
          <p:nvPr/>
        </p:nvSpPr>
        <p:spPr>
          <a:xfrm>
            <a:off x="566928" y="2395728"/>
            <a:ext cx="5257800" cy="2999232"/>
          </a:xfrm>
          <a:prstGeom prst="rect">
            <a:avLst/>
          </a:prstGeom>
          <a:noFill/>
        </p:spPr>
        <p:txBody>
          <a:bodyPr wrap="square" anchor="t">
            <a:spAutoFit/>
          </a:bodyPr>
          <a:lstStyle/>
          <a:p>
            <a:pPr algn="l"/>
            <a:r>
              <a:rPr sz="1250" b="0" i="0">
                <a:solidFill>
                  <a:srgbClr val="464E5C"/>
                </a:solidFill>
                <a:latin typeface="Inter"/>
              </a:rPr>
              <a:t>The simulation places the learner in the context of a leading global investment bank and introduces the role internal auditors play in supporting financial stability, risk management and sound business processes.</a:t>
            </a:r>
          </a:p>
        </p:txBody>
      </p:sp>
      <p:sp>
        <p:nvSpPr>
          <p:cNvPr id="6" name="TextBox 5"/>
          <p:cNvSpPr txBox="1"/>
          <p:nvPr/>
        </p:nvSpPr>
        <p:spPr>
          <a:xfrm>
            <a:off x="6172200" y="2011680"/>
            <a:ext cx="5257800" cy="310896"/>
          </a:xfrm>
          <a:prstGeom prst="rect">
            <a:avLst/>
          </a:prstGeom>
          <a:noFill/>
        </p:spPr>
        <p:txBody>
          <a:bodyPr wrap="square" anchor="t">
            <a:spAutoFit/>
          </a:bodyPr>
          <a:lstStyle/>
          <a:p>
            <a:pPr algn="l"/>
            <a:r>
              <a:rPr sz="1500" b="1" i="0">
                <a:solidFill>
                  <a:srgbClr val="285291"/>
                </a:solidFill>
                <a:latin typeface="Poppins"/>
              </a:rPr>
              <a:t>Forage Job Simulation</a:t>
            </a:r>
          </a:p>
        </p:txBody>
      </p:sp>
      <p:sp>
        <p:nvSpPr>
          <p:cNvPr id="7" name="TextBox 6"/>
          <p:cNvSpPr txBox="1"/>
          <p:nvPr/>
        </p:nvSpPr>
        <p:spPr>
          <a:xfrm>
            <a:off x="6172200" y="2395728"/>
            <a:ext cx="5257800" cy="2999232"/>
          </a:xfrm>
          <a:prstGeom prst="rect">
            <a:avLst/>
          </a:prstGeom>
          <a:noFill/>
        </p:spPr>
        <p:txBody>
          <a:bodyPr wrap="square" anchor="t">
            <a:spAutoFit/>
          </a:bodyPr>
          <a:lstStyle/>
          <a:p>
            <a:pPr algn="l"/>
            <a:r>
              <a:rPr sz="1250" b="0" i="0">
                <a:solidFill>
                  <a:srgbClr val="464E5C"/>
                </a:solidFill>
                <a:latin typeface="Inter"/>
              </a:rPr>
              <a:t>Forage provides a risk-free environment to experience realistic work tasks. The program combines guided learning with practical exercises, allowing students to apply professional reasoning without claiming employment at Goldman Sachs.</a:t>
            </a:r>
          </a:p>
        </p:txBody>
      </p:sp>
      <p:sp>
        <p:nvSpPr>
          <p:cNvPr id="8" name="TextBox 7"/>
          <p:cNvSpPr txBox="1"/>
          <p:nvPr/>
        </p:nvSpPr>
        <p:spPr>
          <a:xfrm>
            <a:off x="868680" y="4709160"/>
            <a:ext cx="4754880" cy="914400"/>
          </a:xfrm>
          <a:prstGeom prst="rect">
            <a:avLst/>
          </a:prstGeom>
          <a:noFill/>
        </p:spPr>
        <p:txBody>
          <a:bodyPr wrap="square">
            <a:spAutoFit/>
          </a:bodyPr>
          <a:lstStyle/>
          <a:p>
            <a:pPr>
              <a:spcAft>
                <a:spcPts val="700"/>
              </a:spcAft>
              <a:defRPr sz="1150">
                <a:solidFill>
                  <a:srgbClr val="464E5C"/>
                </a:solidFill>
                <a:latin typeface="Inter"/>
              </a:defRPr>
            </a:pPr>
            <a:r>
              <a:t>• Focus on curiosity, collaboration and client impact</a:t>
            </a:r>
          </a:p>
          <a:p>
            <a:pPr>
              <a:spcAft>
                <a:spcPts val="700"/>
              </a:spcAft>
              <a:defRPr sz="1150">
                <a:solidFill>
                  <a:srgbClr val="464E5C"/>
                </a:solidFill>
                <a:latin typeface="Inter"/>
              </a:defRPr>
            </a:pPr>
            <a:r>
              <a:t>• Exposure to accounting and financial operations</a:t>
            </a:r>
          </a:p>
        </p:txBody>
      </p:sp>
      <p:sp>
        <p:nvSpPr>
          <p:cNvPr id="9" name="TextBox 8"/>
          <p:cNvSpPr txBox="1"/>
          <p:nvPr/>
        </p:nvSpPr>
        <p:spPr>
          <a:xfrm>
            <a:off x="6446520" y="4709160"/>
            <a:ext cx="4754880" cy="914400"/>
          </a:xfrm>
          <a:prstGeom prst="rect">
            <a:avLst/>
          </a:prstGeom>
          <a:noFill/>
        </p:spPr>
        <p:txBody>
          <a:bodyPr wrap="square">
            <a:spAutoFit/>
          </a:bodyPr>
          <a:lstStyle/>
          <a:p>
            <a:pPr>
              <a:spcAft>
                <a:spcPts val="700"/>
              </a:spcAft>
              <a:defRPr sz="1150">
                <a:solidFill>
                  <a:srgbClr val="464E5C"/>
                </a:solidFill>
                <a:latin typeface="Inter"/>
              </a:defRPr>
            </a:pPr>
            <a:r>
              <a:t>• Practical tasks rather than only theoretical study</a:t>
            </a:r>
          </a:p>
          <a:p>
            <a:pPr>
              <a:spcAft>
                <a:spcPts val="700"/>
              </a:spcAft>
              <a:defRPr sz="1150">
                <a:solidFill>
                  <a:srgbClr val="464E5C"/>
                </a:solidFill>
                <a:latin typeface="Inter"/>
              </a:defRPr>
            </a:pPr>
            <a:r>
              <a:t>• Emphasis on risk awareness and control thinking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6928" y="475488"/>
            <a:ext cx="10972800" cy="512064"/>
          </a:xfrm>
          <a:prstGeom prst="rect">
            <a:avLst/>
          </a:prstGeom>
          <a:noFill/>
        </p:spPr>
        <p:txBody>
          <a:bodyPr wrap="square" anchor="t">
            <a:spAutoFit/>
          </a:bodyPr>
          <a:lstStyle/>
          <a:p>
            <a:pPr algn="l"/>
            <a:r>
              <a:rPr sz="2200" b="1" i="0">
                <a:solidFill>
                  <a:srgbClr val="192743"/>
                </a:solidFill>
                <a:latin typeface="Poppins"/>
              </a:rPr>
              <a:t>Problem Statement &amp; Industry Context</a:t>
            </a:r>
          </a:p>
        </p:txBody>
      </p:sp>
      <p:sp>
        <p:nvSpPr>
          <p:cNvPr id="4" name="TextBox 3"/>
          <p:cNvSpPr txBox="1"/>
          <p:nvPr/>
        </p:nvSpPr>
        <p:spPr>
          <a:xfrm>
            <a:off x="914400" y="2560320"/>
            <a:ext cx="4663440" cy="310896"/>
          </a:xfrm>
          <a:prstGeom prst="rect">
            <a:avLst/>
          </a:prstGeom>
          <a:noFill/>
        </p:spPr>
        <p:txBody>
          <a:bodyPr wrap="square" anchor="t">
            <a:spAutoFit/>
          </a:bodyPr>
          <a:lstStyle/>
          <a:p>
            <a:pPr algn="l"/>
            <a:r>
              <a:rPr sz="1500" b="1" i="0">
                <a:solidFill>
                  <a:srgbClr val="285291"/>
                </a:solidFill>
                <a:latin typeface="Poppins"/>
              </a:rPr>
              <a:t>The Industry Challenge</a:t>
            </a:r>
          </a:p>
        </p:txBody>
      </p:sp>
      <p:sp>
        <p:nvSpPr>
          <p:cNvPr id="5" name="TextBox 4"/>
          <p:cNvSpPr txBox="1"/>
          <p:nvPr/>
        </p:nvSpPr>
        <p:spPr>
          <a:xfrm>
            <a:off x="914400" y="2944368"/>
            <a:ext cx="4663440" cy="2450592"/>
          </a:xfrm>
          <a:prstGeom prst="rect">
            <a:avLst/>
          </a:prstGeom>
          <a:noFill/>
        </p:spPr>
        <p:txBody>
          <a:bodyPr wrap="square" anchor="t">
            <a:spAutoFit/>
          </a:bodyPr>
          <a:lstStyle/>
          <a:p>
            <a:pPr algn="l"/>
            <a:r>
              <a:rPr sz="1250" b="0" i="0">
                <a:solidFill>
                  <a:srgbClr val="464E5C"/>
                </a:solidFill>
                <a:latin typeface="Inter"/>
              </a:rPr>
              <a:t>Large financial institutions operate through complex processes and controls. Weak controls can create financial, operational, regulatory and reputational risks. Internal audit helps identify such weaknesses and provides independent insight into whether controls are working as intended.</a:t>
            </a:r>
          </a:p>
        </p:txBody>
      </p:sp>
      <p:sp>
        <p:nvSpPr>
          <p:cNvPr id="6" name="TextBox 5"/>
          <p:cNvSpPr txBox="1"/>
          <p:nvPr/>
        </p:nvSpPr>
        <p:spPr>
          <a:xfrm>
            <a:off x="6629400" y="2560320"/>
            <a:ext cx="4663440" cy="310896"/>
          </a:xfrm>
          <a:prstGeom prst="rect">
            <a:avLst/>
          </a:prstGeom>
          <a:noFill/>
        </p:spPr>
        <p:txBody>
          <a:bodyPr wrap="square" anchor="t">
            <a:spAutoFit/>
          </a:bodyPr>
          <a:lstStyle/>
          <a:p>
            <a:pPr algn="l"/>
            <a:r>
              <a:rPr sz="1500" b="1" i="0">
                <a:solidFill>
                  <a:srgbClr val="285291"/>
                </a:solidFill>
                <a:latin typeface="Poppins"/>
              </a:rPr>
              <a:t>Simulation Scope</a:t>
            </a:r>
          </a:p>
        </p:txBody>
      </p:sp>
      <p:sp>
        <p:nvSpPr>
          <p:cNvPr id="7" name="TextBox 6"/>
          <p:cNvSpPr txBox="1"/>
          <p:nvPr/>
        </p:nvSpPr>
        <p:spPr>
          <a:xfrm>
            <a:off x="6629400" y="2944368"/>
            <a:ext cx="4663440" cy="2450592"/>
          </a:xfrm>
          <a:prstGeom prst="rect">
            <a:avLst/>
          </a:prstGeom>
          <a:noFill/>
        </p:spPr>
        <p:txBody>
          <a:bodyPr wrap="square" anchor="t">
            <a:spAutoFit/>
          </a:bodyPr>
          <a:lstStyle/>
          <a:p>
            <a:pPr algn="l"/>
            <a:r>
              <a:rPr sz="1250" b="0" i="0">
                <a:solidFill>
                  <a:srgbClr val="464E5C"/>
                </a:solidFill>
                <a:latin typeface="Inter"/>
              </a:rPr>
              <a:t>The job simulation translates this challenge into realistic audit scenarios. The learner reviews observations, identifies risks and control gaps, considers business and client impact, and recommends practical improvements.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6928" y="475488"/>
            <a:ext cx="10972800" cy="512064"/>
          </a:xfrm>
          <a:prstGeom prst="rect">
            <a:avLst/>
          </a:prstGeom>
          <a:noFill/>
        </p:spPr>
        <p:txBody>
          <a:bodyPr wrap="square" anchor="t">
            <a:spAutoFit/>
          </a:bodyPr>
          <a:lstStyle/>
          <a:p>
            <a:pPr algn="l"/>
            <a:r>
              <a:rPr sz="2500" b="1" i="0">
                <a:solidFill>
                  <a:srgbClr val="192743"/>
                </a:solidFill>
                <a:latin typeface="Poppins"/>
              </a:rPr>
              <a:t>Core Learning Objectives</a:t>
            </a:r>
          </a:p>
        </p:txBody>
      </p:sp>
      <p:sp>
        <p:nvSpPr>
          <p:cNvPr id="4" name="Rounded Rectangle 3"/>
          <p:cNvSpPr/>
          <p:nvPr/>
        </p:nvSpPr>
        <p:spPr>
          <a:xfrm>
            <a:off x="566928" y="2423160"/>
            <a:ext cx="2587752" cy="283464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2880360"/>
            <a:ext cx="2103120" cy="640080"/>
          </a:xfrm>
          <a:prstGeom prst="rect">
            <a:avLst/>
          </a:prstGeom>
          <a:noFill/>
        </p:spPr>
        <p:txBody>
          <a:bodyPr wrap="square" anchor="t">
            <a:spAutoFit/>
          </a:bodyPr>
          <a:lstStyle/>
          <a:p>
            <a:pPr algn="l"/>
            <a:r>
              <a:rPr sz="1500" b="1" i="0">
                <a:solidFill>
                  <a:srgbClr val="285291"/>
                </a:solidFill>
                <a:latin typeface="Poppins"/>
              </a:rPr>
              <a:t>Build a Risk Mindset</a:t>
            </a:r>
          </a:p>
        </p:txBody>
      </p:sp>
      <p:sp>
        <p:nvSpPr>
          <p:cNvPr id="6" name="TextBox 5"/>
          <p:cNvSpPr txBox="1"/>
          <p:nvPr/>
        </p:nvSpPr>
        <p:spPr>
          <a:xfrm>
            <a:off x="813816" y="3703320"/>
            <a:ext cx="2103120" cy="1234440"/>
          </a:xfrm>
          <a:prstGeom prst="rect">
            <a:avLst/>
          </a:prstGeom>
          <a:noFill/>
        </p:spPr>
        <p:txBody>
          <a:bodyPr wrap="square" anchor="t">
            <a:spAutoFit/>
          </a:bodyPr>
          <a:lstStyle/>
          <a:p>
            <a:pPr algn="l"/>
            <a:r>
              <a:rPr sz="1150" b="0" i="0">
                <a:solidFill>
                  <a:srgbClr val="464E5C"/>
                </a:solidFill>
                <a:latin typeface="Inter"/>
              </a:rPr>
              <a:t>Recognize risks before they become larger business problems.</a:t>
            </a:r>
          </a:p>
        </p:txBody>
      </p:sp>
      <p:sp>
        <p:nvSpPr>
          <p:cNvPr id="7" name="Rounded Rectangle 6"/>
          <p:cNvSpPr/>
          <p:nvPr/>
        </p:nvSpPr>
        <p:spPr>
          <a:xfrm>
            <a:off x="3392424" y="2423160"/>
            <a:ext cx="2587752" cy="283464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2880360"/>
            <a:ext cx="2103120" cy="640080"/>
          </a:xfrm>
          <a:prstGeom prst="rect">
            <a:avLst/>
          </a:prstGeom>
          <a:noFill/>
        </p:spPr>
        <p:txBody>
          <a:bodyPr wrap="square" anchor="t">
            <a:spAutoFit/>
          </a:bodyPr>
          <a:lstStyle/>
          <a:p>
            <a:pPr algn="l"/>
            <a:r>
              <a:rPr sz="1500" b="1" i="0">
                <a:solidFill>
                  <a:srgbClr val="285291"/>
                </a:solidFill>
                <a:latin typeface="Poppins"/>
              </a:rPr>
              <a:t>Understand Internal Audit</a:t>
            </a:r>
          </a:p>
        </p:txBody>
      </p:sp>
      <p:sp>
        <p:nvSpPr>
          <p:cNvPr id="9" name="TextBox 8"/>
          <p:cNvSpPr txBox="1"/>
          <p:nvPr/>
        </p:nvSpPr>
        <p:spPr>
          <a:xfrm>
            <a:off x="3639312" y="3703320"/>
            <a:ext cx="2103120" cy="1234440"/>
          </a:xfrm>
          <a:prstGeom prst="rect">
            <a:avLst/>
          </a:prstGeom>
          <a:noFill/>
        </p:spPr>
        <p:txBody>
          <a:bodyPr wrap="square" anchor="t">
            <a:spAutoFit/>
          </a:bodyPr>
          <a:lstStyle/>
          <a:p>
            <a:pPr algn="l"/>
            <a:r>
              <a:rPr sz="1150" b="0" i="0">
                <a:solidFill>
                  <a:srgbClr val="464E5C"/>
                </a:solidFill>
                <a:latin typeface="Inter"/>
              </a:rPr>
              <a:t>Learn how audit supports controls, governance and financial stability.</a:t>
            </a:r>
          </a:p>
        </p:txBody>
      </p:sp>
      <p:sp>
        <p:nvSpPr>
          <p:cNvPr id="10" name="Rounded Rectangle 9"/>
          <p:cNvSpPr/>
          <p:nvPr/>
        </p:nvSpPr>
        <p:spPr>
          <a:xfrm>
            <a:off x="6217920" y="2423160"/>
            <a:ext cx="2587752" cy="283464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2880360"/>
            <a:ext cx="2103120" cy="640080"/>
          </a:xfrm>
          <a:prstGeom prst="rect">
            <a:avLst/>
          </a:prstGeom>
          <a:noFill/>
        </p:spPr>
        <p:txBody>
          <a:bodyPr wrap="square" anchor="t">
            <a:spAutoFit/>
          </a:bodyPr>
          <a:lstStyle/>
          <a:p>
            <a:pPr algn="l"/>
            <a:r>
              <a:rPr sz="1500" b="1" i="0">
                <a:solidFill>
                  <a:srgbClr val="285291"/>
                </a:solidFill>
                <a:latin typeface="Poppins"/>
              </a:rPr>
              <a:t>Assess Control Weaknesses</a:t>
            </a:r>
          </a:p>
        </p:txBody>
      </p:sp>
      <p:sp>
        <p:nvSpPr>
          <p:cNvPr id="12" name="TextBox 11"/>
          <p:cNvSpPr txBox="1"/>
          <p:nvPr/>
        </p:nvSpPr>
        <p:spPr>
          <a:xfrm>
            <a:off x="6464808" y="3703320"/>
            <a:ext cx="2103120" cy="1234440"/>
          </a:xfrm>
          <a:prstGeom prst="rect">
            <a:avLst/>
          </a:prstGeom>
          <a:noFill/>
        </p:spPr>
        <p:txBody>
          <a:bodyPr wrap="square" anchor="t">
            <a:spAutoFit/>
          </a:bodyPr>
          <a:lstStyle/>
          <a:p>
            <a:pPr algn="l"/>
            <a:r>
              <a:rPr sz="1150" b="0" i="0">
                <a:solidFill>
                  <a:srgbClr val="464E5C"/>
                </a:solidFill>
                <a:latin typeface="Inter"/>
              </a:rPr>
              <a:t>Connect audit observations with process gaps and their consequences.</a:t>
            </a:r>
          </a:p>
        </p:txBody>
      </p:sp>
      <p:sp>
        <p:nvSpPr>
          <p:cNvPr id="13" name="Rounded Rectangle 12"/>
          <p:cNvSpPr/>
          <p:nvPr/>
        </p:nvSpPr>
        <p:spPr>
          <a:xfrm>
            <a:off x="9034272" y="2423160"/>
            <a:ext cx="2587752" cy="283464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2880360"/>
            <a:ext cx="2103120" cy="640080"/>
          </a:xfrm>
          <a:prstGeom prst="rect">
            <a:avLst/>
          </a:prstGeom>
          <a:noFill/>
        </p:spPr>
        <p:txBody>
          <a:bodyPr wrap="square" anchor="t">
            <a:spAutoFit/>
          </a:bodyPr>
          <a:lstStyle/>
          <a:p>
            <a:pPr algn="l"/>
            <a:r>
              <a:rPr sz="1500" b="1" i="0">
                <a:solidFill>
                  <a:srgbClr val="285291"/>
                </a:solidFill>
                <a:latin typeface="Poppins"/>
              </a:rPr>
              <a:t>Recommend Improvements</a:t>
            </a:r>
          </a:p>
        </p:txBody>
      </p:sp>
      <p:sp>
        <p:nvSpPr>
          <p:cNvPr id="15" name="TextBox 14"/>
          <p:cNvSpPr txBox="1"/>
          <p:nvPr/>
        </p:nvSpPr>
        <p:spPr>
          <a:xfrm>
            <a:off x="9281160" y="3703320"/>
            <a:ext cx="2103120" cy="1234440"/>
          </a:xfrm>
          <a:prstGeom prst="rect">
            <a:avLst/>
          </a:prstGeom>
          <a:noFill/>
        </p:spPr>
        <p:txBody>
          <a:bodyPr wrap="square" anchor="t">
            <a:spAutoFit/>
          </a:bodyPr>
          <a:lstStyle/>
          <a:p>
            <a:pPr algn="l"/>
            <a:r>
              <a:rPr sz="1150" b="0" i="0">
                <a:solidFill>
                  <a:srgbClr val="464E5C"/>
                </a:solidFill>
                <a:latin typeface="Inter"/>
              </a:rPr>
              <a:t>Propose practical actions that reduce risk and improve outcomes.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6928" y="475488"/>
            <a:ext cx="10972800" cy="512064"/>
          </a:xfrm>
          <a:prstGeom prst="rect">
            <a:avLst/>
          </a:prstGeom>
          <a:noFill/>
        </p:spPr>
        <p:txBody>
          <a:bodyPr wrap="square" anchor="t">
            <a:spAutoFit/>
          </a:bodyPr>
          <a:lstStyle/>
          <a:p>
            <a:pPr algn="l"/>
            <a:r>
              <a:rPr sz="2200" b="1" i="0">
                <a:solidFill>
                  <a:srgbClr val="192743"/>
                </a:solidFill>
                <a:latin typeface="Poppins"/>
              </a:rPr>
              <a:t>Methods, Evidence &amp; Analytical Skills</a:t>
            </a:r>
          </a:p>
        </p:txBody>
      </p:sp>
      <p:sp>
        <p:nvSpPr>
          <p:cNvPr id="4" name="Rounded Rectangle 3"/>
          <p:cNvSpPr/>
          <p:nvPr/>
        </p:nvSpPr>
        <p:spPr>
          <a:xfrm>
            <a:off x="566928" y="2423160"/>
            <a:ext cx="2587752" cy="283464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2880360"/>
            <a:ext cx="2103120" cy="640080"/>
          </a:xfrm>
          <a:prstGeom prst="rect">
            <a:avLst/>
          </a:prstGeom>
          <a:noFill/>
        </p:spPr>
        <p:txBody>
          <a:bodyPr wrap="square" anchor="t">
            <a:spAutoFit/>
          </a:bodyPr>
          <a:lstStyle/>
          <a:p>
            <a:pPr algn="l"/>
            <a:r>
              <a:rPr sz="1450" b="1" i="0">
                <a:solidFill>
                  <a:srgbClr val="285291"/>
                </a:solidFill>
                <a:latin typeface="Poppins"/>
              </a:rPr>
              <a:t>Risk Assessment</a:t>
            </a:r>
          </a:p>
        </p:txBody>
      </p:sp>
      <p:sp>
        <p:nvSpPr>
          <p:cNvPr id="6" name="TextBox 5"/>
          <p:cNvSpPr txBox="1"/>
          <p:nvPr/>
        </p:nvSpPr>
        <p:spPr>
          <a:xfrm>
            <a:off x="813816" y="3703320"/>
            <a:ext cx="2103120" cy="1371600"/>
          </a:xfrm>
          <a:prstGeom prst="rect">
            <a:avLst/>
          </a:prstGeom>
          <a:noFill/>
        </p:spPr>
        <p:txBody>
          <a:bodyPr wrap="square" anchor="t">
            <a:spAutoFit/>
          </a:bodyPr>
          <a:lstStyle/>
          <a:p>
            <a:pPr algn="l"/>
            <a:r>
              <a:rPr sz="1150" b="0" i="0">
                <a:solidFill>
                  <a:srgbClr val="464E5C"/>
                </a:solidFill>
                <a:latin typeface="Inter"/>
              </a:rPr>
              <a:t>Probability + impact thinking to prioritize risks.</a:t>
            </a:r>
          </a:p>
        </p:txBody>
      </p:sp>
      <p:sp>
        <p:nvSpPr>
          <p:cNvPr id="7" name="Rounded Rectangle 6"/>
          <p:cNvSpPr/>
          <p:nvPr/>
        </p:nvSpPr>
        <p:spPr>
          <a:xfrm>
            <a:off x="3392424" y="2423160"/>
            <a:ext cx="2587752" cy="283464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2880360"/>
            <a:ext cx="2103120" cy="640080"/>
          </a:xfrm>
          <a:prstGeom prst="rect">
            <a:avLst/>
          </a:prstGeom>
          <a:noFill/>
        </p:spPr>
        <p:txBody>
          <a:bodyPr wrap="square" anchor="t">
            <a:spAutoFit/>
          </a:bodyPr>
          <a:lstStyle/>
          <a:p>
            <a:pPr algn="l"/>
            <a:r>
              <a:rPr sz="1450" b="1" i="0">
                <a:solidFill>
                  <a:srgbClr val="285291"/>
                </a:solidFill>
                <a:latin typeface="Poppins"/>
              </a:rPr>
              <a:t>Control Analysis</a:t>
            </a:r>
          </a:p>
        </p:txBody>
      </p:sp>
      <p:sp>
        <p:nvSpPr>
          <p:cNvPr id="9" name="TextBox 8"/>
          <p:cNvSpPr txBox="1"/>
          <p:nvPr/>
        </p:nvSpPr>
        <p:spPr>
          <a:xfrm>
            <a:off x="3639312" y="3703320"/>
            <a:ext cx="2103120" cy="1371600"/>
          </a:xfrm>
          <a:prstGeom prst="rect">
            <a:avLst/>
          </a:prstGeom>
          <a:noFill/>
        </p:spPr>
        <p:txBody>
          <a:bodyPr wrap="square" anchor="t">
            <a:spAutoFit/>
          </a:bodyPr>
          <a:lstStyle/>
          <a:p>
            <a:pPr algn="l"/>
            <a:r>
              <a:rPr sz="1150" b="0" i="0">
                <a:solidFill>
                  <a:srgbClr val="464E5C"/>
                </a:solidFill>
                <a:latin typeface="Inter"/>
              </a:rPr>
              <a:t>Identify where a process or control can fail.</a:t>
            </a:r>
          </a:p>
        </p:txBody>
      </p:sp>
      <p:sp>
        <p:nvSpPr>
          <p:cNvPr id="10" name="Rounded Rectangle 9"/>
          <p:cNvSpPr/>
          <p:nvPr/>
        </p:nvSpPr>
        <p:spPr>
          <a:xfrm>
            <a:off x="6217920" y="2423160"/>
            <a:ext cx="2587752" cy="283464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2880360"/>
            <a:ext cx="2103120" cy="640080"/>
          </a:xfrm>
          <a:prstGeom prst="rect">
            <a:avLst/>
          </a:prstGeom>
          <a:noFill/>
        </p:spPr>
        <p:txBody>
          <a:bodyPr wrap="square" anchor="t">
            <a:spAutoFit/>
          </a:bodyPr>
          <a:lstStyle/>
          <a:p>
            <a:pPr algn="l"/>
            <a:r>
              <a:rPr sz="1450" b="1" i="0">
                <a:solidFill>
                  <a:srgbClr val="285291"/>
                </a:solidFill>
                <a:latin typeface="Poppins"/>
              </a:rPr>
              <a:t>Scenario Analysis</a:t>
            </a:r>
          </a:p>
        </p:txBody>
      </p:sp>
      <p:sp>
        <p:nvSpPr>
          <p:cNvPr id="12" name="TextBox 11"/>
          <p:cNvSpPr txBox="1"/>
          <p:nvPr/>
        </p:nvSpPr>
        <p:spPr>
          <a:xfrm>
            <a:off x="6464808" y="3703320"/>
            <a:ext cx="2103120" cy="1371600"/>
          </a:xfrm>
          <a:prstGeom prst="rect">
            <a:avLst/>
          </a:prstGeom>
          <a:noFill/>
        </p:spPr>
        <p:txBody>
          <a:bodyPr wrap="square" anchor="t">
            <a:spAutoFit/>
          </a:bodyPr>
          <a:lstStyle/>
          <a:p>
            <a:pPr algn="l"/>
            <a:r>
              <a:rPr sz="1150" b="0" i="0">
                <a:solidFill>
                  <a:srgbClr val="464E5C"/>
                </a:solidFill>
                <a:latin typeface="Inter"/>
              </a:rPr>
              <a:t>Interpret audit observations in a banking context.</a:t>
            </a:r>
          </a:p>
        </p:txBody>
      </p:sp>
      <p:sp>
        <p:nvSpPr>
          <p:cNvPr id="13" name="Rounded Rectangle 12"/>
          <p:cNvSpPr/>
          <p:nvPr/>
        </p:nvSpPr>
        <p:spPr>
          <a:xfrm>
            <a:off x="9034272" y="2423160"/>
            <a:ext cx="2587752" cy="283464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2880360"/>
            <a:ext cx="2103120" cy="640080"/>
          </a:xfrm>
          <a:prstGeom prst="rect">
            <a:avLst/>
          </a:prstGeom>
          <a:noFill/>
        </p:spPr>
        <p:txBody>
          <a:bodyPr wrap="square" anchor="t">
            <a:spAutoFit/>
          </a:bodyPr>
          <a:lstStyle/>
          <a:p>
            <a:pPr algn="l"/>
            <a:r>
              <a:rPr sz="1450" b="1" i="0">
                <a:solidFill>
                  <a:srgbClr val="285291"/>
                </a:solidFill>
                <a:latin typeface="Poppins"/>
              </a:rPr>
              <a:t>Recommendation</a:t>
            </a:r>
          </a:p>
        </p:txBody>
      </p:sp>
      <p:sp>
        <p:nvSpPr>
          <p:cNvPr id="15" name="TextBox 14"/>
          <p:cNvSpPr txBox="1"/>
          <p:nvPr/>
        </p:nvSpPr>
        <p:spPr>
          <a:xfrm>
            <a:off x="9281160" y="3703320"/>
            <a:ext cx="2103120" cy="1371600"/>
          </a:xfrm>
          <a:prstGeom prst="rect">
            <a:avLst/>
          </a:prstGeom>
          <a:noFill/>
        </p:spPr>
        <p:txBody>
          <a:bodyPr wrap="square" anchor="t">
            <a:spAutoFit/>
          </a:bodyPr>
          <a:lstStyle/>
          <a:p>
            <a:pPr algn="l"/>
            <a:r>
              <a:rPr sz="1150" b="0" i="0">
                <a:solidFill>
                  <a:srgbClr val="464E5C"/>
                </a:solidFill>
                <a:latin typeface="Inter"/>
              </a:rPr>
              <a:t>Suggest specific, practical control improvements.</a:t>
            </a:r>
          </a:p>
        </p:txBody>
      </p:sp>
      <p:sp>
        <p:nvSpPr>
          <p:cNvPr id="16" name="TextBox 15"/>
          <p:cNvSpPr txBox="1"/>
          <p:nvPr/>
        </p:nvSpPr>
        <p:spPr>
          <a:xfrm>
            <a:off x="566928" y="5532120"/>
            <a:ext cx="10972800" cy="320040"/>
          </a:xfrm>
          <a:prstGeom prst="rect">
            <a:avLst/>
          </a:prstGeom>
          <a:noFill/>
        </p:spPr>
        <p:txBody>
          <a:bodyPr wrap="square" anchor="t">
            <a:spAutoFit/>
          </a:bodyPr>
          <a:lstStyle/>
          <a:p>
            <a:pPr algn="l"/>
            <a:r>
              <a:rPr sz="1150" b="1" i="0">
                <a:solidFill>
                  <a:srgbClr val="505C6C"/>
                </a:solidFill>
                <a:latin typeface="Inter"/>
              </a:rPr>
              <a:t>Work products: Personal Finance Risk Assessment (Excel) + Internal Audit Scenario Responses (Word)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3"/>
          <a:stretch>
            <a:fillRect/>
          </a:stretch>
        </p:blipFill>
        <p:spPr>
          <a:xfrm>
            <a:off x="6096000" y="0"/>
            <a:ext cx="6096000" cy="6858000"/>
          </a:xfrm>
          <a:prstGeom prst="rect">
            <a:avLst/>
          </a:prstGeom>
        </p:spPr>
      </p:pic>
      <p:sp>
        <p:nvSpPr>
          <p:cNvPr id="5" name="TextBox 4"/>
          <p:cNvSpPr txBox="1"/>
          <p:nvPr/>
        </p:nvSpPr>
        <p:spPr>
          <a:xfrm>
            <a:off x="502920" y="1417320"/>
            <a:ext cx="5394960" cy="502920"/>
          </a:xfrm>
          <a:prstGeom prst="rect">
            <a:avLst/>
          </a:prstGeom>
          <a:noFill/>
        </p:spPr>
        <p:txBody>
          <a:bodyPr wrap="square" anchor="t">
            <a:spAutoFit/>
          </a:bodyPr>
          <a:lstStyle/>
          <a:p>
            <a:pPr algn="l"/>
            <a:r>
              <a:rPr sz="2400" b="1" i="0">
                <a:solidFill>
                  <a:srgbClr val="192743"/>
                </a:solidFill>
                <a:latin typeface="Poppins"/>
              </a:rPr>
              <a:t>Internal Audit Risk-Assessment Workflow</a:t>
            </a:r>
          </a:p>
        </p:txBody>
      </p:sp>
      <p:sp>
        <p:nvSpPr>
          <p:cNvPr id="6" name="TextBox 5"/>
          <p:cNvSpPr txBox="1"/>
          <p:nvPr/>
        </p:nvSpPr>
        <p:spPr>
          <a:xfrm>
            <a:off x="530352" y="2240280"/>
            <a:ext cx="320040" cy="274320"/>
          </a:xfrm>
          <a:prstGeom prst="rect">
            <a:avLst/>
          </a:prstGeom>
          <a:noFill/>
        </p:spPr>
        <p:txBody>
          <a:bodyPr wrap="square" anchor="t">
            <a:spAutoFit/>
          </a:bodyPr>
          <a:lstStyle/>
          <a:p>
            <a:pPr algn="ctr"/>
            <a:r>
              <a:rPr sz="1300" b="1" i="0">
                <a:solidFill>
                  <a:srgbClr val="285291"/>
                </a:solidFill>
                <a:latin typeface="Poppins"/>
              </a:rPr>
              <a:t>1</a:t>
            </a:r>
          </a:p>
        </p:txBody>
      </p:sp>
      <p:sp>
        <p:nvSpPr>
          <p:cNvPr id="7" name="TextBox 6"/>
          <p:cNvSpPr txBox="1"/>
          <p:nvPr/>
        </p:nvSpPr>
        <p:spPr>
          <a:xfrm>
            <a:off x="896112" y="2240280"/>
            <a:ext cx="4480560" cy="274320"/>
          </a:xfrm>
          <a:prstGeom prst="rect">
            <a:avLst/>
          </a:prstGeom>
          <a:noFill/>
        </p:spPr>
        <p:txBody>
          <a:bodyPr wrap="square" anchor="t">
            <a:spAutoFit/>
          </a:bodyPr>
          <a:lstStyle/>
          <a:p>
            <a:pPr algn="l"/>
            <a:r>
              <a:rPr sz="1250" b="1" i="0">
                <a:solidFill>
                  <a:srgbClr val="2A3444"/>
                </a:solidFill>
                <a:latin typeface="Inter"/>
              </a:rPr>
              <a:t>Understand the process</a:t>
            </a:r>
          </a:p>
        </p:txBody>
      </p:sp>
      <p:sp>
        <p:nvSpPr>
          <p:cNvPr id="8" name="TextBox 7"/>
          <p:cNvSpPr txBox="1"/>
          <p:nvPr/>
        </p:nvSpPr>
        <p:spPr>
          <a:xfrm>
            <a:off x="896112" y="2551176"/>
            <a:ext cx="4480560" cy="384048"/>
          </a:xfrm>
          <a:prstGeom prst="rect">
            <a:avLst/>
          </a:prstGeom>
          <a:noFill/>
        </p:spPr>
        <p:txBody>
          <a:bodyPr wrap="square" anchor="t">
            <a:spAutoFit/>
          </a:bodyPr>
          <a:lstStyle/>
          <a:p>
            <a:pPr algn="l"/>
            <a:r>
              <a:rPr sz="1080" b="0" i="0">
                <a:solidFill>
                  <a:srgbClr val="505864"/>
                </a:solidFill>
                <a:latin typeface="Inter"/>
              </a:rPr>
              <a:t>What is the process supposed to achieve?</a:t>
            </a:r>
          </a:p>
        </p:txBody>
      </p:sp>
      <p:sp>
        <p:nvSpPr>
          <p:cNvPr id="9" name="TextBox 8"/>
          <p:cNvSpPr txBox="1"/>
          <p:nvPr/>
        </p:nvSpPr>
        <p:spPr>
          <a:xfrm>
            <a:off x="530352" y="2971800"/>
            <a:ext cx="320040" cy="274320"/>
          </a:xfrm>
          <a:prstGeom prst="rect">
            <a:avLst/>
          </a:prstGeom>
          <a:noFill/>
        </p:spPr>
        <p:txBody>
          <a:bodyPr wrap="square" anchor="t">
            <a:spAutoFit/>
          </a:bodyPr>
          <a:lstStyle/>
          <a:p>
            <a:pPr algn="ctr"/>
            <a:r>
              <a:rPr sz="1300" b="1" i="0">
                <a:solidFill>
                  <a:srgbClr val="285291"/>
                </a:solidFill>
                <a:latin typeface="Poppins"/>
              </a:rPr>
              <a:t>2</a:t>
            </a:r>
          </a:p>
        </p:txBody>
      </p:sp>
      <p:sp>
        <p:nvSpPr>
          <p:cNvPr id="10" name="TextBox 9"/>
          <p:cNvSpPr txBox="1"/>
          <p:nvPr/>
        </p:nvSpPr>
        <p:spPr>
          <a:xfrm>
            <a:off x="896112" y="2971800"/>
            <a:ext cx="4480560" cy="274320"/>
          </a:xfrm>
          <a:prstGeom prst="rect">
            <a:avLst/>
          </a:prstGeom>
          <a:noFill/>
        </p:spPr>
        <p:txBody>
          <a:bodyPr wrap="square" anchor="t">
            <a:spAutoFit/>
          </a:bodyPr>
          <a:lstStyle/>
          <a:p>
            <a:pPr algn="l"/>
            <a:r>
              <a:rPr sz="1250" b="1" i="0">
                <a:solidFill>
                  <a:srgbClr val="2A3444"/>
                </a:solidFill>
                <a:latin typeface="Inter"/>
              </a:rPr>
              <a:t>Identify the risk</a:t>
            </a:r>
          </a:p>
        </p:txBody>
      </p:sp>
      <p:sp>
        <p:nvSpPr>
          <p:cNvPr id="11" name="TextBox 10"/>
          <p:cNvSpPr txBox="1"/>
          <p:nvPr/>
        </p:nvSpPr>
        <p:spPr>
          <a:xfrm>
            <a:off x="896112" y="3282696"/>
            <a:ext cx="4480560" cy="384048"/>
          </a:xfrm>
          <a:prstGeom prst="rect">
            <a:avLst/>
          </a:prstGeom>
          <a:noFill/>
        </p:spPr>
        <p:txBody>
          <a:bodyPr wrap="square" anchor="t">
            <a:spAutoFit/>
          </a:bodyPr>
          <a:lstStyle/>
          <a:p>
            <a:pPr algn="l"/>
            <a:r>
              <a:rPr sz="1080" b="0" i="0">
                <a:solidFill>
                  <a:srgbClr val="505864"/>
                </a:solidFill>
                <a:latin typeface="Inter"/>
              </a:rPr>
              <a:t>What could go wrong and why?</a:t>
            </a:r>
          </a:p>
        </p:txBody>
      </p:sp>
      <p:sp>
        <p:nvSpPr>
          <p:cNvPr id="12" name="TextBox 11"/>
          <p:cNvSpPr txBox="1"/>
          <p:nvPr/>
        </p:nvSpPr>
        <p:spPr>
          <a:xfrm>
            <a:off x="530352" y="3703320"/>
            <a:ext cx="320040" cy="274320"/>
          </a:xfrm>
          <a:prstGeom prst="rect">
            <a:avLst/>
          </a:prstGeom>
          <a:noFill/>
        </p:spPr>
        <p:txBody>
          <a:bodyPr wrap="square" anchor="t">
            <a:spAutoFit/>
          </a:bodyPr>
          <a:lstStyle/>
          <a:p>
            <a:pPr algn="ctr"/>
            <a:r>
              <a:rPr sz="1300" b="1" i="0">
                <a:solidFill>
                  <a:srgbClr val="285291"/>
                </a:solidFill>
                <a:latin typeface="Poppins"/>
              </a:rPr>
              <a:t>3</a:t>
            </a:r>
          </a:p>
        </p:txBody>
      </p:sp>
      <p:sp>
        <p:nvSpPr>
          <p:cNvPr id="13" name="TextBox 12"/>
          <p:cNvSpPr txBox="1"/>
          <p:nvPr/>
        </p:nvSpPr>
        <p:spPr>
          <a:xfrm>
            <a:off x="896112" y="3703320"/>
            <a:ext cx="4480560" cy="274320"/>
          </a:xfrm>
          <a:prstGeom prst="rect">
            <a:avLst/>
          </a:prstGeom>
          <a:noFill/>
        </p:spPr>
        <p:txBody>
          <a:bodyPr wrap="square" anchor="t">
            <a:spAutoFit/>
          </a:bodyPr>
          <a:lstStyle/>
          <a:p>
            <a:pPr algn="l"/>
            <a:r>
              <a:rPr sz="1250" b="1" i="0">
                <a:solidFill>
                  <a:srgbClr val="2A3444"/>
                </a:solidFill>
                <a:latin typeface="Inter"/>
              </a:rPr>
              <a:t>Assess impact</a:t>
            </a:r>
          </a:p>
        </p:txBody>
      </p:sp>
      <p:sp>
        <p:nvSpPr>
          <p:cNvPr id="14" name="TextBox 13"/>
          <p:cNvSpPr txBox="1"/>
          <p:nvPr/>
        </p:nvSpPr>
        <p:spPr>
          <a:xfrm>
            <a:off x="896112" y="4014215"/>
            <a:ext cx="4480560" cy="384048"/>
          </a:xfrm>
          <a:prstGeom prst="rect">
            <a:avLst/>
          </a:prstGeom>
          <a:noFill/>
        </p:spPr>
        <p:txBody>
          <a:bodyPr wrap="square" anchor="t">
            <a:spAutoFit/>
          </a:bodyPr>
          <a:lstStyle/>
          <a:p>
            <a:pPr algn="l"/>
            <a:r>
              <a:rPr sz="1080" b="0" i="0">
                <a:solidFill>
                  <a:srgbClr val="505864"/>
                </a:solidFill>
                <a:latin typeface="Inter"/>
              </a:rPr>
              <a:t>Who or what could be affected?</a:t>
            </a:r>
          </a:p>
        </p:txBody>
      </p:sp>
      <p:sp>
        <p:nvSpPr>
          <p:cNvPr id="15" name="TextBox 14"/>
          <p:cNvSpPr txBox="1"/>
          <p:nvPr/>
        </p:nvSpPr>
        <p:spPr>
          <a:xfrm>
            <a:off x="530352" y="4434840"/>
            <a:ext cx="320040" cy="274320"/>
          </a:xfrm>
          <a:prstGeom prst="rect">
            <a:avLst/>
          </a:prstGeom>
          <a:noFill/>
        </p:spPr>
        <p:txBody>
          <a:bodyPr wrap="square" anchor="t">
            <a:spAutoFit/>
          </a:bodyPr>
          <a:lstStyle/>
          <a:p>
            <a:pPr algn="ctr"/>
            <a:r>
              <a:rPr sz="1300" b="1" i="0">
                <a:solidFill>
                  <a:srgbClr val="285291"/>
                </a:solidFill>
                <a:latin typeface="Poppins"/>
              </a:rPr>
              <a:t>4</a:t>
            </a:r>
          </a:p>
        </p:txBody>
      </p:sp>
      <p:sp>
        <p:nvSpPr>
          <p:cNvPr id="16" name="TextBox 15"/>
          <p:cNvSpPr txBox="1"/>
          <p:nvPr/>
        </p:nvSpPr>
        <p:spPr>
          <a:xfrm>
            <a:off x="896112" y="4434840"/>
            <a:ext cx="4480560" cy="274320"/>
          </a:xfrm>
          <a:prstGeom prst="rect">
            <a:avLst/>
          </a:prstGeom>
          <a:noFill/>
        </p:spPr>
        <p:txBody>
          <a:bodyPr wrap="square" anchor="t">
            <a:spAutoFit/>
          </a:bodyPr>
          <a:lstStyle/>
          <a:p>
            <a:pPr algn="l"/>
            <a:r>
              <a:rPr sz="1250" b="1" i="0">
                <a:solidFill>
                  <a:srgbClr val="2A3444"/>
                </a:solidFill>
                <a:latin typeface="Inter"/>
              </a:rPr>
              <a:t>Evaluate the control</a:t>
            </a:r>
          </a:p>
        </p:txBody>
      </p:sp>
      <p:sp>
        <p:nvSpPr>
          <p:cNvPr id="17" name="TextBox 16"/>
          <p:cNvSpPr txBox="1"/>
          <p:nvPr/>
        </p:nvSpPr>
        <p:spPr>
          <a:xfrm>
            <a:off x="896112" y="4745736"/>
            <a:ext cx="4480560" cy="384048"/>
          </a:xfrm>
          <a:prstGeom prst="rect">
            <a:avLst/>
          </a:prstGeom>
          <a:noFill/>
        </p:spPr>
        <p:txBody>
          <a:bodyPr wrap="square" anchor="t">
            <a:spAutoFit/>
          </a:bodyPr>
          <a:lstStyle/>
          <a:p>
            <a:pPr algn="l"/>
            <a:r>
              <a:rPr sz="1080" b="0" i="0">
                <a:solidFill>
                  <a:srgbClr val="505864"/>
                </a:solidFill>
                <a:latin typeface="Inter"/>
              </a:rPr>
              <a:t>Is the existing control sufficient?</a:t>
            </a:r>
          </a:p>
        </p:txBody>
      </p:sp>
      <p:sp>
        <p:nvSpPr>
          <p:cNvPr id="18" name="TextBox 17"/>
          <p:cNvSpPr txBox="1"/>
          <p:nvPr/>
        </p:nvSpPr>
        <p:spPr>
          <a:xfrm>
            <a:off x="530352" y="5166359"/>
            <a:ext cx="320040" cy="274320"/>
          </a:xfrm>
          <a:prstGeom prst="rect">
            <a:avLst/>
          </a:prstGeom>
          <a:noFill/>
        </p:spPr>
        <p:txBody>
          <a:bodyPr wrap="square" anchor="t">
            <a:spAutoFit/>
          </a:bodyPr>
          <a:lstStyle/>
          <a:p>
            <a:pPr algn="ctr"/>
            <a:r>
              <a:rPr sz="1300" b="1" i="0">
                <a:solidFill>
                  <a:srgbClr val="285291"/>
                </a:solidFill>
                <a:latin typeface="Poppins"/>
              </a:rPr>
              <a:t>5</a:t>
            </a:r>
          </a:p>
        </p:txBody>
      </p:sp>
      <p:sp>
        <p:nvSpPr>
          <p:cNvPr id="19" name="TextBox 18"/>
          <p:cNvSpPr txBox="1"/>
          <p:nvPr/>
        </p:nvSpPr>
        <p:spPr>
          <a:xfrm>
            <a:off x="896112" y="5166359"/>
            <a:ext cx="4480560" cy="274320"/>
          </a:xfrm>
          <a:prstGeom prst="rect">
            <a:avLst/>
          </a:prstGeom>
          <a:noFill/>
        </p:spPr>
        <p:txBody>
          <a:bodyPr wrap="square" anchor="t">
            <a:spAutoFit/>
          </a:bodyPr>
          <a:lstStyle/>
          <a:p>
            <a:pPr algn="l"/>
            <a:r>
              <a:rPr sz="1250" b="1" i="0">
                <a:solidFill>
                  <a:srgbClr val="2A3444"/>
                </a:solidFill>
                <a:latin typeface="Inter"/>
              </a:rPr>
              <a:t>Recommend action</a:t>
            </a:r>
          </a:p>
        </p:txBody>
      </p:sp>
      <p:sp>
        <p:nvSpPr>
          <p:cNvPr id="20" name="TextBox 19"/>
          <p:cNvSpPr txBox="1"/>
          <p:nvPr/>
        </p:nvSpPr>
        <p:spPr>
          <a:xfrm>
            <a:off x="896112" y="5477255"/>
            <a:ext cx="4480560" cy="384048"/>
          </a:xfrm>
          <a:prstGeom prst="rect">
            <a:avLst/>
          </a:prstGeom>
          <a:noFill/>
        </p:spPr>
        <p:txBody>
          <a:bodyPr wrap="square" anchor="t">
            <a:spAutoFit/>
          </a:bodyPr>
          <a:lstStyle/>
          <a:p>
            <a:pPr algn="l"/>
            <a:r>
              <a:rPr sz="1080" b="0" i="0">
                <a:solidFill>
                  <a:srgbClr val="505864"/>
                </a:solidFill>
                <a:latin typeface="Inter"/>
              </a:rPr>
              <a:t>What practical change can reduce the risk?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6928" y="475488"/>
            <a:ext cx="10972800" cy="512064"/>
          </a:xfrm>
          <a:prstGeom prst="rect">
            <a:avLst/>
          </a:prstGeom>
          <a:noFill/>
        </p:spPr>
        <p:txBody>
          <a:bodyPr wrap="square" anchor="t">
            <a:spAutoFit/>
          </a:bodyPr>
          <a:lstStyle/>
          <a:p>
            <a:pPr algn="l"/>
            <a:r>
              <a:rPr sz="2500" b="1" i="0">
                <a:solidFill>
                  <a:srgbClr val="192743"/>
                </a:solidFill>
                <a:latin typeface="Poppins"/>
              </a:rPr>
              <a:t>Task Timeline &amp; Activities</a:t>
            </a:r>
          </a:p>
        </p:txBody>
      </p:sp>
      <p:sp>
        <p:nvSpPr>
          <p:cNvPr id="4" name="Rectangle 3"/>
          <p:cNvSpPr/>
          <p:nvPr/>
        </p:nvSpPr>
        <p:spPr>
          <a:xfrm>
            <a:off x="731520" y="3794760"/>
            <a:ext cx="10698480" cy="45720"/>
          </a:xfrm>
          <a:prstGeom prst="rect">
            <a:avLst/>
          </a:prstGeom>
          <a:solidFill>
            <a:srgbClr val="2D6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3657600"/>
            <a:ext cx="274320" cy="274320"/>
          </a:xfrm>
          <a:prstGeom prst="ellipse">
            <a:avLst/>
          </a:prstGeom>
          <a:solidFill>
            <a:srgbClr val="2D6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19" y="2331720"/>
            <a:ext cx="2011680" cy="320040"/>
          </a:xfrm>
          <a:prstGeom prst="rect">
            <a:avLst/>
          </a:prstGeom>
          <a:noFill/>
        </p:spPr>
        <p:txBody>
          <a:bodyPr wrap="square" anchor="t">
            <a:spAutoFit/>
          </a:bodyPr>
          <a:lstStyle/>
          <a:p>
            <a:pPr algn="l"/>
            <a:r>
              <a:rPr sz="1350" b="1" i="0">
                <a:solidFill>
                  <a:srgbClr val="285291"/>
                </a:solidFill>
                <a:latin typeface="Poppins"/>
              </a:rPr>
              <a:t>Task 1</a:t>
            </a:r>
          </a:p>
        </p:txBody>
      </p:sp>
      <p:sp>
        <p:nvSpPr>
          <p:cNvPr id="7" name="TextBox 6"/>
          <p:cNvSpPr txBox="1"/>
          <p:nvPr/>
        </p:nvSpPr>
        <p:spPr>
          <a:xfrm>
            <a:off x="731519" y="2743200"/>
            <a:ext cx="4389120" cy="502920"/>
          </a:xfrm>
          <a:prstGeom prst="rect">
            <a:avLst/>
          </a:prstGeom>
          <a:noFill/>
        </p:spPr>
        <p:txBody>
          <a:bodyPr wrap="square" anchor="t">
            <a:spAutoFit/>
          </a:bodyPr>
          <a:lstStyle/>
          <a:p>
            <a:pPr algn="l"/>
            <a:r>
              <a:rPr sz="1600" b="1" i="0">
                <a:solidFill>
                  <a:srgbClr val="28303E"/>
                </a:solidFill>
                <a:latin typeface="Poppins"/>
              </a:rPr>
              <a:t>Foundations of Internal Audit</a:t>
            </a:r>
          </a:p>
        </p:txBody>
      </p:sp>
      <p:sp>
        <p:nvSpPr>
          <p:cNvPr id="8" name="TextBox 7"/>
          <p:cNvSpPr txBox="1"/>
          <p:nvPr/>
        </p:nvSpPr>
        <p:spPr>
          <a:xfrm>
            <a:off x="731519" y="3291840"/>
            <a:ext cx="4389120" cy="914400"/>
          </a:xfrm>
          <a:prstGeom prst="rect">
            <a:avLst/>
          </a:prstGeom>
          <a:noFill/>
        </p:spPr>
        <p:txBody>
          <a:bodyPr wrap="square" anchor="t">
            <a:spAutoFit/>
          </a:bodyPr>
          <a:lstStyle/>
          <a:p>
            <a:pPr algn="l"/>
            <a:r>
              <a:rPr sz="1150" b="0" i="0">
                <a:solidFill>
                  <a:srgbClr val="464E5C"/>
                </a:solidFill>
                <a:latin typeface="Inter"/>
              </a:rPr>
              <a:t>Learned audit fundamentals and applied risk management to a personal-finance exercise.</a:t>
            </a:r>
          </a:p>
        </p:txBody>
      </p:sp>
      <p:sp>
        <p:nvSpPr>
          <p:cNvPr id="9" name="Oval 8"/>
          <p:cNvSpPr/>
          <p:nvPr/>
        </p:nvSpPr>
        <p:spPr>
          <a:xfrm>
            <a:off x="5989320" y="3657600"/>
            <a:ext cx="274320" cy="274320"/>
          </a:xfrm>
          <a:prstGeom prst="ellipse">
            <a:avLst/>
          </a:prstGeom>
          <a:solidFill>
            <a:srgbClr val="2D6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0" y="2331720"/>
            <a:ext cx="2011680" cy="320040"/>
          </a:xfrm>
          <a:prstGeom prst="rect">
            <a:avLst/>
          </a:prstGeom>
          <a:noFill/>
        </p:spPr>
        <p:txBody>
          <a:bodyPr wrap="square" anchor="t">
            <a:spAutoFit/>
          </a:bodyPr>
          <a:lstStyle/>
          <a:p>
            <a:pPr algn="l"/>
            <a:r>
              <a:rPr sz="1350" b="1" i="0">
                <a:solidFill>
                  <a:srgbClr val="285291"/>
                </a:solidFill>
                <a:latin typeface="Poppins"/>
              </a:rPr>
              <a:t>Task 2</a:t>
            </a:r>
          </a:p>
        </p:txBody>
      </p:sp>
      <p:sp>
        <p:nvSpPr>
          <p:cNvPr id="11" name="TextBox 10"/>
          <p:cNvSpPr txBox="1"/>
          <p:nvPr/>
        </p:nvSpPr>
        <p:spPr>
          <a:xfrm>
            <a:off x="5943600" y="2743200"/>
            <a:ext cx="4389120" cy="502920"/>
          </a:xfrm>
          <a:prstGeom prst="rect">
            <a:avLst/>
          </a:prstGeom>
          <a:noFill/>
        </p:spPr>
        <p:txBody>
          <a:bodyPr wrap="square" anchor="t">
            <a:spAutoFit/>
          </a:bodyPr>
          <a:lstStyle/>
          <a:p>
            <a:pPr algn="l"/>
            <a:r>
              <a:rPr sz="1600" b="1" i="0">
                <a:solidFill>
                  <a:srgbClr val="28303E"/>
                </a:solidFill>
                <a:latin typeface="Poppins"/>
              </a:rPr>
              <a:t>Risk Assessment in Global Banking &amp; Markets</a:t>
            </a:r>
          </a:p>
        </p:txBody>
      </p:sp>
      <p:sp>
        <p:nvSpPr>
          <p:cNvPr id="12" name="TextBox 11"/>
          <p:cNvSpPr txBox="1"/>
          <p:nvPr/>
        </p:nvSpPr>
        <p:spPr>
          <a:xfrm>
            <a:off x="5943600" y="3291840"/>
            <a:ext cx="4389120" cy="914400"/>
          </a:xfrm>
          <a:prstGeom prst="rect">
            <a:avLst/>
          </a:prstGeom>
          <a:noFill/>
        </p:spPr>
        <p:txBody>
          <a:bodyPr wrap="square" anchor="t">
            <a:spAutoFit/>
          </a:bodyPr>
          <a:lstStyle/>
          <a:p>
            <a:pPr algn="l"/>
            <a:r>
              <a:rPr sz="1150" b="0" i="0">
                <a:solidFill>
                  <a:srgbClr val="464E5C"/>
                </a:solidFill>
                <a:latin typeface="Inter"/>
              </a:rPr>
              <a:t>Reviewed three audit scenarios and identified risks, control gaps and improvement actions.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6928" y="475488"/>
            <a:ext cx="10972800" cy="512064"/>
          </a:xfrm>
          <a:prstGeom prst="rect">
            <a:avLst/>
          </a:prstGeom>
          <a:noFill/>
        </p:spPr>
        <p:txBody>
          <a:bodyPr wrap="square" anchor="t">
            <a:spAutoFit/>
          </a:bodyPr>
          <a:lstStyle/>
          <a:p>
            <a:pPr algn="l"/>
            <a:r>
              <a:rPr sz="2200" b="1" i="0">
                <a:solidFill>
                  <a:srgbClr val="192743"/>
                </a:solidFill>
                <a:latin typeface="Poppins"/>
              </a:rPr>
              <a:t>Task 2 – Global Banking &amp; Markets Scenarios</a:t>
            </a:r>
          </a:p>
        </p:txBody>
      </p:sp>
      <p:sp>
        <p:nvSpPr>
          <p:cNvPr id="4" name="Rounded Rectangle 3"/>
          <p:cNvSpPr/>
          <p:nvPr/>
        </p:nvSpPr>
        <p:spPr>
          <a:xfrm>
            <a:off x="685800" y="2194560"/>
            <a:ext cx="3063240" cy="320040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548640" cy="274320"/>
          </a:xfrm>
          <a:prstGeom prst="rect">
            <a:avLst/>
          </a:prstGeom>
          <a:noFill/>
        </p:spPr>
        <p:txBody>
          <a:bodyPr wrap="square" anchor="t">
            <a:spAutoFit/>
          </a:bodyPr>
          <a:lstStyle/>
          <a:p>
            <a:pPr algn="l"/>
            <a:r>
              <a:rPr sz="1200" b="1" i="0">
                <a:solidFill>
                  <a:srgbClr val="2D64B9"/>
                </a:solidFill>
                <a:latin typeface="Poppins"/>
              </a:rPr>
              <a:t>01</a:t>
            </a:r>
          </a:p>
        </p:txBody>
      </p:sp>
      <p:sp>
        <p:nvSpPr>
          <p:cNvPr id="6" name="TextBox 5"/>
          <p:cNvSpPr txBox="1"/>
          <p:nvPr/>
        </p:nvSpPr>
        <p:spPr>
          <a:xfrm>
            <a:off x="914400" y="2880360"/>
            <a:ext cx="2606040" cy="594360"/>
          </a:xfrm>
          <a:prstGeom prst="rect">
            <a:avLst/>
          </a:prstGeom>
          <a:noFill/>
        </p:spPr>
        <p:txBody>
          <a:bodyPr wrap="square" anchor="t">
            <a:spAutoFit/>
          </a:bodyPr>
          <a:lstStyle/>
          <a:p>
            <a:pPr algn="l"/>
            <a:r>
              <a:rPr sz="1600" b="1" i="0">
                <a:solidFill>
                  <a:srgbClr val="28303E"/>
                </a:solidFill>
                <a:latin typeface="Poppins"/>
              </a:rPr>
              <a:t>Trade Execution</a:t>
            </a:r>
          </a:p>
        </p:txBody>
      </p:sp>
      <p:sp>
        <p:nvSpPr>
          <p:cNvPr id="7" name="TextBox 6"/>
          <p:cNvSpPr txBox="1"/>
          <p:nvPr/>
        </p:nvSpPr>
        <p:spPr>
          <a:xfrm>
            <a:off x="914400" y="3657600"/>
            <a:ext cx="2606040" cy="1325880"/>
          </a:xfrm>
          <a:prstGeom prst="rect">
            <a:avLst/>
          </a:prstGeom>
          <a:noFill/>
        </p:spPr>
        <p:txBody>
          <a:bodyPr wrap="square" anchor="t">
            <a:spAutoFit/>
          </a:bodyPr>
          <a:lstStyle/>
          <a:p>
            <a:pPr algn="l"/>
            <a:r>
              <a:rPr sz="1120" b="0" i="0">
                <a:solidFill>
                  <a:srgbClr val="464E5C"/>
                </a:solidFill>
                <a:latin typeface="Inter"/>
              </a:rPr>
              <a:t>Execution delays created financial and operational impact. The response considered both Technology Audit and Business Audit perspectives.</a:t>
            </a:r>
          </a:p>
        </p:txBody>
      </p:sp>
      <p:sp>
        <p:nvSpPr>
          <p:cNvPr id="8" name="Rounded Rectangle 7"/>
          <p:cNvSpPr/>
          <p:nvPr/>
        </p:nvSpPr>
        <p:spPr>
          <a:xfrm>
            <a:off x="4069080" y="2194560"/>
            <a:ext cx="3063240" cy="320040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2468880"/>
            <a:ext cx="548640" cy="274320"/>
          </a:xfrm>
          <a:prstGeom prst="rect">
            <a:avLst/>
          </a:prstGeom>
          <a:noFill/>
        </p:spPr>
        <p:txBody>
          <a:bodyPr wrap="square" anchor="t">
            <a:spAutoFit/>
          </a:bodyPr>
          <a:lstStyle/>
          <a:p>
            <a:pPr algn="l"/>
            <a:r>
              <a:rPr sz="1200" b="1" i="0">
                <a:solidFill>
                  <a:srgbClr val="2D64B9"/>
                </a:solidFill>
                <a:latin typeface="Poppins"/>
              </a:rPr>
              <a:t>02</a:t>
            </a:r>
          </a:p>
        </p:txBody>
      </p:sp>
      <p:sp>
        <p:nvSpPr>
          <p:cNvPr id="10" name="TextBox 9"/>
          <p:cNvSpPr txBox="1"/>
          <p:nvPr/>
        </p:nvSpPr>
        <p:spPr>
          <a:xfrm>
            <a:off x="4297680" y="2880360"/>
            <a:ext cx="2606040" cy="594360"/>
          </a:xfrm>
          <a:prstGeom prst="rect">
            <a:avLst/>
          </a:prstGeom>
          <a:noFill/>
        </p:spPr>
        <p:txBody>
          <a:bodyPr wrap="square" anchor="t">
            <a:spAutoFit/>
          </a:bodyPr>
          <a:lstStyle/>
          <a:p>
            <a:pPr algn="l"/>
            <a:r>
              <a:rPr sz="1600" b="1" i="0">
                <a:solidFill>
                  <a:srgbClr val="28303E"/>
                </a:solidFill>
                <a:latin typeface="Poppins"/>
              </a:rPr>
              <a:t>Credit Risk / NPLs</a:t>
            </a:r>
          </a:p>
        </p:txBody>
      </p:sp>
      <p:sp>
        <p:nvSpPr>
          <p:cNvPr id="11" name="TextBox 10"/>
          <p:cNvSpPr txBox="1"/>
          <p:nvPr/>
        </p:nvSpPr>
        <p:spPr>
          <a:xfrm>
            <a:off x="4297680" y="3657600"/>
            <a:ext cx="2606040" cy="1325880"/>
          </a:xfrm>
          <a:prstGeom prst="rect">
            <a:avLst/>
          </a:prstGeom>
          <a:noFill/>
        </p:spPr>
        <p:txBody>
          <a:bodyPr wrap="square" anchor="t">
            <a:spAutoFit/>
          </a:bodyPr>
          <a:lstStyle/>
          <a:p>
            <a:pPr algn="l"/>
            <a:r>
              <a:rPr sz="1120" b="0" i="0">
                <a:solidFill>
                  <a:srgbClr val="464E5C"/>
                </a:solidFill>
                <a:latin typeface="Inter"/>
              </a:rPr>
              <a:t>Strengthen ongoing credit monitoring and periodic borrower reassessment to identify deterioration earlier.</a:t>
            </a:r>
          </a:p>
        </p:txBody>
      </p:sp>
      <p:sp>
        <p:nvSpPr>
          <p:cNvPr id="12" name="Rounded Rectangle 11"/>
          <p:cNvSpPr/>
          <p:nvPr/>
        </p:nvSpPr>
        <p:spPr>
          <a:xfrm>
            <a:off x="7452360" y="2194560"/>
            <a:ext cx="3063240" cy="3200400"/>
          </a:xfrm>
          <a:prstGeom prst="roundRect">
            <a:avLst/>
          </a:prstGeom>
          <a:solidFill>
            <a:srgbClr val="F8F9FC"/>
          </a:solidFill>
          <a:ln>
            <a:solidFill>
              <a:srgbClr val="D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2468880"/>
            <a:ext cx="548640" cy="274320"/>
          </a:xfrm>
          <a:prstGeom prst="rect">
            <a:avLst/>
          </a:prstGeom>
          <a:noFill/>
        </p:spPr>
        <p:txBody>
          <a:bodyPr wrap="square" anchor="t">
            <a:spAutoFit/>
          </a:bodyPr>
          <a:lstStyle/>
          <a:p>
            <a:pPr algn="l"/>
            <a:r>
              <a:rPr sz="1200" b="1" i="0">
                <a:solidFill>
                  <a:srgbClr val="2D64B9"/>
                </a:solidFill>
                <a:latin typeface="Poppins"/>
              </a:rPr>
              <a:t>03</a:t>
            </a:r>
          </a:p>
        </p:txBody>
      </p:sp>
      <p:sp>
        <p:nvSpPr>
          <p:cNvPr id="14" name="TextBox 13"/>
          <p:cNvSpPr txBox="1"/>
          <p:nvPr/>
        </p:nvSpPr>
        <p:spPr>
          <a:xfrm>
            <a:off x="7680960" y="2880360"/>
            <a:ext cx="2606040" cy="594360"/>
          </a:xfrm>
          <a:prstGeom prst="rect">
            <a:avLst/>
          </a:prstGeom>
          <a:noFill/>
        </p:spPr>
        <p:txBody>
          <a:bodyPr wrap="square" anchor="t">
            <a:spAutoFit/>
          </a:bodyPr>
          <a:lstStyle/>
          <a:p>
            <a:pPr algn="l"/>
            <a:r>
              <a:rPr sz="1600" b="1" i="0">
                <a:solidFill>
                  <a:srgbClr val="28303E"/>
                </a:solidFill>
                <a:latin typeface="Poppins"/>
              </a:rPr>
              <a:t>AML Transaction Monitoring</a:t>
            </a:r>
          </a:p>
        </p:txBody>
      </p:sp>
      <p:sp>
        <p:nvSpPr>
          <p:cNvPr id="15" name="TextBox 14"/>
          <p:cNvSpPr txBox="1"/>
          <p:nvPr/>
        </p:nvSpPr>
        <p:spPr>
          <a:xfrm>
            <a:off x="7680960" y="3657600"/>
            <a:ext cx="2606040" cy="1325880"/>
          </a:xfrm>
          <a:prstGeom prst="rect">
            <a:avLst/>
          </a:prstGeom>
          <a:noFill/>
        </p:spPr>
        <p:txBody>
          <a:bodyPr wrap="square" anchor="t">
            <a:spAutoFit/>
          </a:bodyPr>
          <a:lstStyle/>
          <a:p>
            <a:pPr algn="l"/>
            <a:r>
              <a:rPr sz="1120" b="0" i="0">
                <a:solidFill>
                  <a:srgbClr val="464E5C"/>
                </a:solidFill>
                <a:latin typeface="Inter"/>
              </a:rPr>
              <a:t>Low reporting of identified suspicious transactions indicated an escalation/control gap requiring stronger review and automation.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6928" y="475488"/>
            <a:ext cx="10972800" cy="512064"/>
          </a:xfrm>
          <a:prstGeom prst="rect">
            <a:avLst/>
          </a:prstGeom>
          <a:noFill/>
        </p:spPr>
        <p:txBody>
          <a:bodyPr wrap="square" anchor="t">
            <a:spAutoFit/>
          </a:bodyPr>
          <a:lstStyle/>
          <a:p>
            <a:pPr algn="l"/>
            <a:r>
              <a:rPr sz="2200" b="1" i="0">
                <a:solidFill>
                  <a:srgbClr val="192743"/>
                </a:solidFill>
                <a:latin typeface="Poppins"/>
              </a:rPr>
              <a:t>Key Work Completed &amp; Demonstrated Skills</a:t>
            </a:r>
          </a:p>
        </p:txBody>
      </p:sp>
      <p:sp>
        <p:nvSpPr>
          <p:cNvPr id="4" name="TextBox 3"/>
          <p:cNvSpPr txBox="1"/>
          <p:nvPr/>
        </p:nvSpPr>
        <p:spPr>
          <a:xfrm>
            <a:off x="868680" y="1965960"/>
            <a:ext cx="10515600" cy="310896"/>
          </a:xfrm>
          <a:prstGeom prst="rect">
            <a:avLst/>
          </a:prstGeom>
          <a:noFill/>
        </p:spPr>
        <p:txBody>
          <a:bodyPr wrap="square" anchor="t">
            <a:spAutoFit/>
          </a:bodyPr>
          <a:lstStyle/>
          <a:p>
            <a:pPr algn="l"/>
            <a:r>
              <a:rPr sz="1400" b="1" i="0">
                <a:solidFill>
                  <a:srgbClr val="285291"/>
                </a:solidFill>
                <a:latin typeface="Poppins"/>
              </a:rPr>
              <a:t>Personal Risk Assessment</a:t>
            </a:r>
          </a:p>
        </p:txBody>
      </p:sp>
      <p:sp>
        <p:nvSpPr>
          <p:cNvPr id="5" name="TextBox 4"/>
          <p:cNvSpPr txBox="1"/>
          <p:nvPr/>
        </p:nvSpPr>
        <p:spPr>
          <a:xfrm>
            <a:off x="868680" y="2313432"/>
            <a:ext cx="10515600" cy="502920"/>
          </a:xfrm>
          <a:prstGeom prst="rect">
            <a:avLst/>
          </a:prstGeom>
          <a:noFill/>
        </p:spPr>
        <p:txBody>
          <a:bodyPr wrap="square" anchor="t">
            <a:spAutoFit/>
          </a:bodyPr>
          <a:lstStyle/>
          <a:p>
            <a:pPr algn="l"/>
            <a:r>
              <a:rPr sz="1150" b="0" i="0">
                <a:solidFill>
                  <a:srgbClr val="464E5C"/>
                </a:solidFill>
                <a:latin typeface="Inter"/>
              </a:rPr>
              <a:t>Built a structured risk assessment for managing personal finances as a student, using probability, impact, risk rating and controls.</a:t>
            </a:r>
          </a:p>
        </p:txBody>
      </p:sp>
      <p:sp>
        <p:nvSpPr>
          <p:cNvPr id="6" name="TextBox 5"/>
          <p:cNvSpPr txBox="1"/>
          <p:nvPr/>
        </p:nvSpPr>
        <p:spPr>
          <a:xfrm>
            <a:off x="868680" y="2715768"/>
            <a:ext cx="10515600" cy="310896"/>
          </a:xfrm>
          <a:prstGeom prst="rect">
            <a:avLst/>
          </a:prstGeom>
          <a:noFill/>
        </p:spPr>
        <p:txBody>
          <a:bodyPr wrap="square" anchor="t">
            <a:spAutoFit/>
          </a:bodyPr>
          <a:lstStyle/>
          <a:p>
            <a:pPr algn="l"/>
            <a:r>
              <a:rPr sz="1400" b="1" i="0">
                <a:solidFill>
                  <a:srgbClr val="285291"/>
                </a:solidFill>
                <a:latin typeface="Poppins"/>
              </a:rPr>
              <a:t>Trade Execution Analysis</a:t>
            </a:r>
          </a:p>
        </p:txBody>
      </p:sp>
      <p:sp>
        <p:nvSpPr>
          <p:cNvPr id="7" name="TextBox 6"/>
          <p:cNvSpPr txBox="1"/>
          <p:nvPr/>
        </p:nvSpPr>
        <p:spPr>
          <a:xfrm>
            <a:off x="868680" y="3063239"/>
            <a:ext cx="10515600" cy="502920"/>
          </a:xfrm>
          <a:prstGeom prst="rect">
            <a:avLst/>
          </a:prstGeom>
          <a:noFill/>
        </p:spPr>
        <p:txBody>
          <a:bodyPr wrap="square" anchor="t">
            <a:spAutoFit/>
          </a:bodyPr>
          <a:lstStyle/>
          <a:p>
            <a:pPr algn="l"/>
            <a:r>
              <a:rPr sz="1150" b="0" i="0">
                <a:solidFill>
                  <a:srgbClr val="464E5C"/>
                </a:solidFill>
                <a:latin typeface="Inter"/>
              </a:rPr>
              <a:t>Linked slow execution to financial loss, operational discrepancies and client experience, while recognizing the technology/business audit overlap.</a:t>
            </a:r>
          </a:p>
        </p:txBody>
      </p:sp>
      <p:sp>
        <p:nvSpPr>
          <p:cNvPr id="8" name="TextBox 7"/>
          <p:cNvSpPr txBox="1"/>
          <p:nvPr/>
        </p:nvSpPr>
        <p:spPr>
          <a:xfrm>
            <a:off x="868680" y="3465575"/>
            <a:ext cx="10515600" cy="310896"/>
          </a:xfrm>
          <a:prstGeom prst="rect">
            <a:avLst/>
          </a:prstGeom>
          <a:noFill/>
        </p:spPr>
        <p:txBody>
          <a:bodyPr wrap="square" anchor="t">
            <a:spAutoFit/>
          </a:bodyPr>
          <a:lstStyle/>
          <a:p>
            <a:pPr algn="l"/>
            <a:r>
              <a:rPr sz="1400" b="1" i="0">
                <a:solidFill>
                  <a:srgbClr val="285291"/>
                </a:solidFill>
                <a:latin typeface="Poppins"/>
              </a:rPr>
              <a:t>Credit Risk Analysis</a:t>
            </a:r>
          </a:p>
        </p:txBody>
      </p:sp>
      <p:sp>
        <p:nvSpPr>
          <p:cNvPr id="9" name="TextBox 8"/>
          <p:cNvSpPr txBox="1"/>
          <p:nvPr/>
        </p:nvSpPr>
        <p:spPr>
          <a:xfrm>
            <a:off x="868680" y="3813048"/>
            <a:ext cx="10515600" cy="502920"/>
          </a:xfrm>
          <a:prstGeom prst="rect">
            <a:avLst/>
          </a:prstGeom>
          <a:noFill/>
        </p:spPr>
        <p:txBody>
          <a:bodyPr wrap="square" anchor="t">
            <a:spAutoFit/>
          </a:bodyPr>
          <a:lstStyle/>
          <a:p>
            <a:pPr algn="l"/>
            <a:r>
              <a:rPr sz="1150" b="0" i="0">
                <a:solidFill>
                  <a:srgbClr val="464E5C"/>
                </a:solidFill>
                <a:latin typeface="Inter"/>
              </a:rPr>
              <a:t>Recommended stronger post-approval monitoring and periodic reassessment to catch early warning signs before loans become non-performing.</a:t>
            </a:r>
          </a:p>
        </p:txBody>
      </p:sp>
      <p:sp>
        <p:nvSpPr>
          <p:cNvPr id="10" name="TextBox 9"/>
          <p:cNvSpPr txBox="1"/>
          <p:nvPr/>
        </p:nvSpPr>
        <p:spPr>
          <a:xfrm>
            <a:off x="868680" y="4215383"/>
            <a:ext cx="10515600" cy="310896"/>
          </a:xfrm>
          <a:prstGeom prst="rect">
            <a:avLst/>
          </a:prstGeom>
          <a:noFill/>
        </p:spPr>
        <p:txBody>
          <a:bodyPr wrap="square" anchor="t">
            <a:spAutoFit/>
          </a:bodyPr>
          <a:lstStyle/>
          <a:p>
            <a:pPr algn="l"/>
            <a:r>
              <a:rPr sz="1400" b="1" i="0">
                <a:solidFill>
                  <a:srgbClr val="285291"/>
                </a:solidFill>
                <a:latin typeface="Poppins"/>
              </a:rPr>
              <a:t>AML Control Improvement</a:t>
            </a:r>
          </a:p>
        </p:txBody>
      </p:sp>
      <p:sp>
        <p:nvSpPr>
          <p:cNvPr id="11" name="TextBox 10"/>
          <p:cNvSpPr txBox="1"/>
          <p:nvPr/>
        </p:nvSpPr>
        <p:spPr>
          <a:xfrm>
            <a:off x="868680" y="4562855"/>
            <a:ext cx="10515600" cy="502920"/>
          </a:xfrm>
          <a:prstGeom prst="rect">
            <a:avLst/>
          </a:prstGeom>
          <a:noFill/>
        </p:spPr>
        <p:txBody>
          <a:bodyPr wrap="square" anchor="t">
            <a:spAutoFit/>
          </a:bodyPr>
          <a:lstStyle/>
          <a:p>
            <a:pPr algn="l"/>
            <a:r>
              <a:rPr sz="1150" b="0" i="0">
                <a:solidFill>
                  <a:srgbClr val="464E5C"/>
                </a:solidFill>
                <a:latin typeface="Inter"/>
              </a:rPr>
              <a:t>Identified the gap between suspicious-transaction detection and reporting and proposed mandatory review plus automated escalation.</a:t>
            </a:r>
          </a:p>
        </p:txBody>
      </p:sp>
      <p:sp>
        <p:nvSpPr>
          <p:cNvPr id="12" name="TextBox 11"/>
          <p:cNvSpPr txBox="1"/>
          <p:nvPr/>
        </p:nvSpPr>
        <p:spPr>
          <a:xfrm>
            <a:off x="868680" y="4965192"/>
            <a:ext cx="10515600" cy="310896"/>
          </a:xfrm>
          <a:prstGeom prst="rect">
            <a:avLst/>
          </a:prstGeom>
          <a:noFill/>
        </p:spPr>
        <p:txBody>
          <a:bodyPr wrap="square" anchor="t">
            <a:spAutoFit/>
          </a:bodyPr>
          <a:lstStyle/>
          <a:p>
            <a:pPr algn="l"/>
            <a:r>
              <a:rPr sz="1400" b="1" i="0">
                <a:solidFill>
                  <a:srgbClr val="285291"/>
                </a:solidFill>
                <a:latin typeface="Poppins"/>
              </a:rPr>
              <a:t>Professional Documentation</a:t>
            </a:r>
          </a:p>
        </p:txBody>
      </p:sp>
      <p:sp>
        <p:nvSpPr>
          <p:cNvPr id="13" name="TextBox 12"/>
          <p:cNvSpPr txBox="1"/>
          <p:nvPr/>
        </p:nvSpPr>
        <p:spPr>
          <a:xfrm>
            <a:off x="868680" y="5312664"/>
            <a:ext cx="10515600" cy="502920"/>
          </a:xfrm>
          <a:prstGeom prst="rect">
            <a:avLst/>
          </a:prstGeom>
          <a:noFill/>
        </p:spPr>
        <p:txBody>
          <a:bodyPr wrap="square" anchor="t">
            <a:spAutoFit/>
          </a:bodyPr>
          <a:lstStyle/>
          <a:p>
            <a:pPr algn="l"/>
            <a:r>
              <a:rPr sz="1150" b="0" i="0">
                <a:solidFill>
                  <a:srgbClr val="464E5C"/>
                </a:solidFill>
                <a:latin typeface="Inter"/>
              </a:rPr>
              <a:t>Converted observations into concise, evidence-based explanations and actionable recommendations.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6928" y="475488"/>
            <a:ext cx="10972800" cy="512064"/>
          </a:xfrm>
          <a:prstGeom prst="rect">
            <a:avLst/>
          </a:prstGeom>
          <a:noFill/>
        </p:spPr>
        <p:txBody>
          <a:bodyPr wrap="square" anchor="t">
            <a:spAutoFit/>
          </a:bodyPr>
          <a:lstStyle/>
          <a:p>
            <a:pPr algn="l"/>
            <a:r>
              <a:rPr sz="2200" b="1" i="0">
                <a:solidFill>
                  <a:srgbClr val="192743"/>
                </a:solidFill>
                <a:latin typeface="Poppins"/>
              </a:rPr>
              <a:t>Certification &amp; Official Verification</a:t>
            </a:r>
          </a:p>
        </p:txBody>
      </p:sp>
      <p:graphicFrame>
        <p:nvGraphicFramePr>
          <p:cNvPr id="4" name="Table 3"/>
          <p:cNvGraphicFramePr>
            <a:graphicFrameLocks noGrp="1"/>
          </p:cNvGraphicFramePr>
          <p:nvPr/>
        </p:nvGraphicFramePr>
        <p:xfrm>
          <a:off x="640080" y="1965960"/>
          <a:ext cx="10927080" cy="3566160"/>
        </p:xfrm>
        <a:graphic>
          <a:graphicData uri="http://schemas.openxmlformats.org/drawingml/2006/table">
            <a:tbl>
              <a:tblPr firstRow="1" bandRow="1">
                <a:tableStyleId>{5C22544A-7EE6-4342-B048-85BDC9FD1C3A}</a:tableStyleId>
              </a:tblPr>
              <a:tblGrid>
                <a:gridCol w="3017520"/>
                <a:gridCol w="7909560"/>
              </a:tblGrid>
              <a:tr h="594360">
                <a:tc>
                  <a:txBody>
                    <a:bodyPr/>
                    <a:lstStyle/>
                    <a:p>
                      <a:r>
                        <a:rPr sz="1200" b="1">
                          <a:solidFill>
                            <a:srgbClr val="FFFFFF"/>
                          </a:solidFill>
                          <a:latin typeface="Poppins"/>
                        </a:rPr>
                        <a:t>Verification Item</a:t>
                      </a:r>
                    </a:p>
                  </a:txBody>
                  <a:tcPr>
                    <a:solidFill>
                      <a:srgbClr val="23406E"/>
                    </a:solidFill>
                  </a:tcPr>
                </a:tc>
                <a:tc>
                  <a:txBody>
                    <a:bodyPr/>
                    <a:lstStyle/>
                    <a:p>
                      <a:r>
                        <a:rPr sz="1200" b="1">
                          <a:solidFill>
                            <a:srgbClr val="FFFFFF"/>
                          </a:solidFill>
                          <a:latin typeface="Poppins"/>
                        </a:rPr>
                        <a:t>Details</a:t>
                      </a:r>
                    </a:p>
                  </a:txBody>
                  <a:tcPr>
                    <a:solidFill>
                      <a:srgbClr val="23406E"/>
                    </a:solidFill>
                  </a:tcPr>
                </a:tc>
              </a:tr>
              <a:tr h="594360">
                <a:tc>
                  <a:txBody>
                    <a:bodyPr/>
                    <a:lstStyle/>
                    <a:p>
                      <a:r>
                        <a:rPr sz="1100">
                          <a:solidFill>
                            <a:srgbClr val="414B5A"/>
                          </a:solidFill>
                          <a:latin typeface="Inter"/>
                        </a:rPr>
                        <a:t>Program</a:t>
                      </a:r>
                    </a:p>
                  </a:txBody>
                  <a:tcPr>
                    <a:solidFill>
                      <a:srgbClr val="F8F9FC"/>
                    </a:solidFill>
                  </a:tcPr>
                </a:tc>
                <a:tc>
                  <a:txBody>
                    <a:bodyPr/>
                    <a:lstStyle/>
                    <a:p>
                      <a:r>
                        <a:rPr sz="1100">
                          <a:solidFill>
                            <a:srgbClr val="414B5A"/>
                          </a:solidFill>
                          <a:latin typeface="Inter"/>
                        </a:rPr>
                        <a:t>Goldman Sachs – Internal Audit Job Simulation</a:t>
                      </a:r>
                    </a:p>
                  </a:txBody>
                  <a:tcPr>
                    <a:solidFill>
                      <a:srgbClr val="F8F9FC"/>
                    </a:solidFill>
                  </a:tcPr>
                </a:tc>
              </a:tr>
              <a:tr h="594360">
                <a:tc>
                  <a:txBody>
                    <a:bodyPr/>
                    <a:lstStyle/>
                    <a:p>
                      <a:r>
                        <a:rPr sz="1100">
                          <a:solidFill>
                            <a:srgbClr val="414B5A"/>
                          </a:solidFill>
                          <a:latin typeface="Inter"/>
                        </a:rPr>
                        <a:t>Platform</a:t>
                      </a:r>
                    </a:p>
                  </a:txBody>
                  <a:tcPr>
                    <a:solidFill>
                      <a:srgbClr val="EFF4FA"/>
                    </a:solidFill>
                  </a:tcPr>
                </a:tc>
                <a:tc>
                  <a:txBody>
                    <a:bodyPr/>
                    <a:lstStyle/>
                    <a:p>
                      <a:r>
                        <a:rPr sz="1100">
                          <a:solidFill>
                            <a:srgbClr val="414B5A"/>
                          </a:solidFill>
                          <a:latin typeface="Inter"/>
                        </a:rPr>
                        <a:t>Forage</a:t>
                      </a:r>
                    </a:p>
                  </a:txBody>
                  <a:tcPr>
                    <a:solidFill>
                      <a:srgbClr val="EFF4FA"/>
                    </a:solidFill>
                  </a:tcPr>
                </a:tc>
              </a:tr>
              <a:tr h="594360">
                <a:tc>
                  <a:txBody>
                    <a:bodyPr/>
                    <a:lstStyle/>
                    <a:p>
                      <a:r>
                        <a:rPr sz="1100">
                          <a:solidFill>
                            <a:srgbClr val="414B5A"/>
                          </a:solidFill>
                          <a:latin typeface="Inter"/>
                        </a:rPr>
                        <a:t>Participant</a:t>
                      </a:r>
                    </a:p>
                  </a:txBody>
                  <a:tcPr>
                    <a:solidFill>
                      <a:srgbClr val="F8F9FC"/>
                    </a:solidFill>
                  </a:tcPr>
                </a:tc>
                <a:tc>
                  <a:txBody>
                    <a:bodyPr/>
                    <a:lstStyle/>
                    <a:p>
                      <a:r>
                        <a:rPr sz="1100">
                          <a:solidFill>
                            <a:srgbClr val="414B5A"/>
                          </a:solidFill>
                          <a:latin typeface="Inter"/>
                        </a:rPr>
                        <a:t>Sarthak Shubham</a:t>
                      </a:r>
                    </a:p>
                  </a:txBody>
                  <a:tcPr>
                    <a:solidFill>
                      <a:srgbClr val="F8F9FC"/>
                    </a:solidFill>
                  </a:tcPr>
                </a:tc>
              </a:tr>
              <a:tr h="594360">
                <a:tc>
                  <a:txBody>
                    <a:bodyPr/>
                    <a:lstStyle/>
                    <a:p>
                      <a:r>
                        <a:rPr sz="1100">
                          <a:solidFill>
                            <a:srgbClr val="414B5A"/>
                          </a:solidFill>
                          <a:latin typeface="Inter"/>
                        </a:rPr>
                        <a:t>Completion</a:t>
                      </a:r>
                    </a:p>
                  </a:txBody>
                  <a:tcPr>
                    <a:solidFill>
                      <a:srgbClr val="EFF4FA"/>
                    </a:solidFill>
                  </a:tcPr>
                </a:tc>
                <a:tc>
                  <a:txBody>
                    <a:bodyPr/>
                    <a:lstStyle/>
                    <a:p>
                      <a:r>
                        <a:rPr sz="1100">
                          <a:solidFill>
                            <a:srgbClr val="414B5A"/>
                          </a:solidFill>
                          <a:latin typeface="Inter"/>
                        </a:rPr>
                        <a:t>Certificate of Completion — September 10, 2026</a:t>
                      </a:r>
                    </a:p>
                  </a:txBody>
                  <a:tcPr>
                    <a:solidFill>
                      <a:srgbClr val="EFF4FA"/>
                    </a:solidFill>
                  </a:tcPr>
                </a:tc>
              </a:tr>
              <a:tr h="594360">
                <a:tc>
                  <a:txBody>
                    <a:bodyPr/>
                    <a:lstStyle/>
                    <a:p>
                      <a:r>
                        <a:rPr sz="1100">
                          <a:solidFill>
                            <a:srgbClr val="414B5A"/>
                          </a:solidFill>
                          <a:latin typeface="Inter"/>
                        </a:rPr>
                        <a:t>Practical Tasks</a:t>
                      </a:r>
                    </a:p>
                  </a:txBody>
                  <a:tcPr>
                    <a:solidFill>
                      <a:srgbClr val="F8F9FC"/>
                    </a:solidFill>
                  </a:tcPr>
                </a:tc>
                <a:tc>
                  <a:txBody>
                    <a:bodyPr/>
                    <a:lstStyle/>
                    <a:p>
                      <a:r>
                        <a:rPr sz="1100">
                          <a:solidFill>
                            <a:srgbClr val="414B5A"/>
                          </a:solidFill>
                          <a:latin typeface="Inter"/>
                        </a:rPr>
                        <a:t>Foundations of Internal Audit; Risk Assessment in Global Banking &amp; Markets</a:t>
                      </a:r>
                    </a:p>
                  </a:txBody>
                  <a:tcPr>
                    <a:solidFill>
                      <a:srgbClr val="F8F9FC"/>
                    </a:solidFill>
                  </a:tcPr>
                </a:tc>
              </a:tr>
            </a:tbl>
          </a:graphicData>
        </a:graphic>
      </p:graphicFrame>
      <p:sp>
        <p:nvSpPr>
          <p:cNvPr id="5" name="TextBox 4"/>
          <p:cNvSpPr txBox="1"/>
          <p:nvPr/>
        </p:nvSpPr>
        <p:spPr>
          <a:xfrm>
            <a:off x="658368" y="5715000"/>
            <a:ext cx="10789920" cy="320040"/>
          </a:xfrm>
          <a:prstGeom prst="rect">
            <a:avLst/>
          </a:prstGeom>
          <a:noFill/>
        </p:spPr>
        <p:txBody>
          <a:bodyPr wrap="square" anchor="t">
            <a:spAutoFit/>
          </a:bodyPr>
          <a:lstStyle/>
          <a:p>
            <a:pPr algn="l"/>
            <a:r>
              <a:rPr sz="1100" b="1" i="0">
                <a:solidFill>
                  <a:srgbClr val="505C6C"/>
                </a:solidFill>
                <a:latin typeface="Inter"/>
              </a:rPr>
              <a:t>Credential evidence is reproduced on the following slide.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751BCE-E21B-9E7A-68CD-573D45685200}"/>
              </a:ext>
            </a:extLst>
          </p:cNvPr>
          <p:cNvPicPr>
            <a:picLocks noChangeAspect="1"/>
          </p:cNvPicPr>
          <p:nvPr/>
        </p:nvPicPr>
        <p:blipFill>
          <a:blip r:embed="rId2"/>
          <a:stretch>
            <a:fillRect/>
          </a:stretch>
        </p:blipFill>
        <p:spPr>
          <a:xfrm>
            <a:off x="1258893" y="1518249"/>
            <a:ext cx="6999463" cy="4938397"/>
          </a:xfrm>
          <a:prstGeom prst="rect">
            <a:avLst/>
          </a:prstGeom>
          <a:ln>
            <a:noFill/>
          </a:ln>
          <a:effectLst>
            <a:outerShdw blurRad="190500" algn="tl" rotWithShape="0">
              <a:srgbClr val="000000">
                <a:alpha val="70000"/>
              </a:srgbClr>
            </a:outerShdw>
          </a:effectLst>
        </p:spPr>
      </p:pic>
      <p:sp>
        <p:nvSpPr>
          <p:cNvPr id="5" name="TextBox 4"/>
          <p:cNvSpPr txBox="1"/>
          <p:nvPr/>
        </p:nvSpPr>
        <p:spPr>
          <a:xfrm>
            <a:off x="566928" y="475488"/>
            <a:ext cx="10972800" cy="512064"/>
          </a:xfrm>
          <a:prstGeom prst="rect">
            <a:avLst/>
          </a:prstGeom>
          <a:noFill/>
        </p:spPr>
        <p:txBody>
          <a:bodyPr wrap="square" anchor="t">
            <a:spAutoFit/>
          </a:bodyPr>
          <a:lstStyle/>
          <a:p>
            <a:pPr algn="l"/>
            <a:r>
              <a:rPr sz="2500" b="1" i="0">
                <a:solidFill>
                  <a:srgbClr val="192743"/>
                </a:solidFill>
                <a:latin typeface="Poppins"/>
              </a:rPr>
              <a:t>Certificate of Completion</a:t>
            </a:r>
          </a:p>
        </p:txBody>
      </p:sp>
      <p:pic>
        <p:nvPicPr>
          <p:cNvPr id="6" name="Picture 5" descr="Sarthak_Goldman_Sachs_Certificate.png"/>
          <p:cNvPicPr>
            <a:picLocks noChangeAspect="1"/>
          </p:cNvPicPr>
          <p:nvPr/>
        </p:nvPicPr>
        <p:blipFill>
          <a:blip r:embed="rId3"/>
          <a:stretch>
            <a:fillRect/>
          </a:stretch>
        </p:blipFill>
        <p:spPr>
          <a:xfrm>
            <a:off x="2240280" y="1417320"/>
            <a:ext cx="7726679" cy="5590940"/>
          </a:xfrm>
          <a:prstGeom prst="rect">
            <a:avLst/>
          </a:prstGeom>
        </p:spPr>
      </p:pic>
    </p:spTree>
    <p:extLst>
      <p:ext uri="{BB962C8B-B14F-4D97-AF65-F5344CB8AC3E}">
        <p14:creationId xmlns:p14="http://schemas.microsoft.com/office/powerpoint/2010/main" val="38155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3977639" y="1600200"/>
            <a:ext cx="4297680" cy="685800"/>
          </a:xfrm>
          <a:prstGeom prst="rect">
            <a:avLst/>
          </a:prstGeom>
          <a:noFill/>
        </p:spPr>
        <p:txBody>
          <a:bodyPr wrap="square" anchor="t">
            <a:spAutoFit/>
          </a:bodyPr>
          <a:lstStyle/>
          <a:p>
            <a:pPr algn="ctr"/>
            <a:r>
              <a:rPr sz="4200" b="1" i="0">
                <a:solidFill>
                  <a:srgbClr val="192743"/>
                </a:solidFill>
                <a:latin typeface="Poppins"/>
              </a:rPr>
              <a:t>Thank You!</a:t>
            </a:r>
          </a:p>
        </p:txBody>
      </p:sp>
      <p:sp>
        <p:nvSpPr>
          <p:cNvPr id="4" name="TextBox 3"/>
          <p:cNvSpPr txBox="1"/>
          <p:nvPr/>
        </p:nvSpPr>
        <p:spPr>
          <a:xfrm>
            <a:off x="2743200" y="3520440"/>
            <a:ext cx="2926080" cy="320040"/>
          </a:xfrm>
          <a:prstGeom prst="rect">
            <a:avLst/>
          </a:prstGeom>
          <a:noFill/>
        </p:spPr>
        <p:txBody>
          <a:bodyPr wrap="square" anchor="t">
            <a:spAutoFit/>
          </a:bodyPr>
          <a:lstStyle/>
          <a:p>
            <a:pPr algn="ctr"/>
            <a:r>
              <a:rPr sz="1500" b="1" i="0">
                <a:solidFill>
                  <a:srgbClr val="285291"/>
                </a:solidFill>
                <a:latin typeface="Poppins"/>
              </a:rPr>
              <a:t>Sarthak Shubham</a:t>
            </a:r>
          </a:p>
        </p:txBody>
      </p:sp>
      <p:sp>
        <p:nvSpPr>
          <p:cNvPr id="5" name="TextBox 4"/>
          <p:cNvSpPr txBox="1"/>
          <p:nvPr/>
        </p:nvSpPr>
        <p:spPr>
          <a:xfrm>
            <a:off x="2743200" y="3913632"/>
            <a:ext cx="2926080" cy="274320"/>
          </a:xfrm>
          <a:prstGeom prst="rect">
            <a:avLst/>
          </a:prstGeom>
          <a:noFill/>
        </p:spPr>
        <p:txBody>
          <a:bodyPr wrap="square" anchor="t">
            <a:spAutoFit/>
          </a:bodyPr>
          <a:lstStyle/>
          <a:p>
            <a:pPr algn="ctr"/>
            <a:r>
              <a:rPr sz="1150" b="0" i="0">
                <a:solidFill>
                  <a:srgbClr val="464E5C"/>
                </a:solidFill>
                <a:latin typeface="Inter"/>
              </a:rPr>
              <a:t>Roll No: 25SCS1003002959</a:t>
            </a:r>
          </a:p>
        </p:txBody>
      </p:sp>
      <p:sp>
        <p:nvSpPr>
          <p:cNvPr id="6" name="TextBox 5"/>
          <p:cNvSpPr txBox="1"/>
          <p:nvPr/>
        </p:nvSpPr>
        <p:spPr>
          <a:xfrm>
            <a:off x="5623560" y="3520440"/>
            <a:ext cx="3794760" cy="320040"/>
          </a:xfrm>
          <a:prstGeom prst="rect">
            <a:avLst/>
          </a:prstGeom>
          <a:noFill/>
        </p:spPr>
        <p:txBody>
          <a:bodyPr wrap="square" anchor="t">
            <a:spAutoFit/>
          </a:bodyPr>
          <a:lstStyle/>
          <a:p>
            <a:pPr algn="ctr"/>
            <a:r>
              <a:rPr sz="1350" b="1" i="0">
                <a:solidFill>
                  <a:srgbClr val="285291"/>
                </a:solidFill>
                <a:latin typeface="Poppins"/>
              </a:rPr>
              <a:t>School of Computer Science &amp; Engineering</a:t>
            </a:r>
          </a:p>
        </p:txBody>
      </p:sp>
      <p:sp>
        <p:nvSpPr>
          <p:cNvPr id="7" name="TextBox 6"/>
          <p:cNvSpPr txBox="1"/>
          <p:nvPr/>
        </p:nvSpPr>
        <p:spPr>
          <a:xfrm>
            <a:off x="5623560" y="3913632"/>
            <a:ext cx="3794760" cy="274320"/>
          </a:xfrm>
          <a:prstGeom prst="rect">
            <a:avLst/>
          </a:prstGeom>
          <a:noFill/>
        </p:spPr>
        <p:txBody>
          <a:bodyPr wrap="square" anchor="t">
            <a:spAutoFit/>
          </a:bodyPr>
          <a:lstStyle/>
          <a:p>
            <a:pPr algn="ctr"/>
            <a:r>
              <a:rPr sz="1150" b="0" i="0">
                <a:solidFill>
                  <a:srgbClr val="464E5C"/>
                </a:solidFill>
                <a:latin typeface="Inter"/>
              </a:rPr>
              <a:t>IILM University, Greater Noida,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920</Words>
  <Application>Microsoft Office PowerPoint</Application>
  <PresentationFormat>Widescreen</PresentationFormat>
  <Paragraphs>98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Inter</vt:lpstr>
      <vt:lpstr>Inter SemiBold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Certification &amp; Official Verification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Vijendra Kumar</cp:lastModifiedBy>
  <cp:revision>3</cp:revision>
  <dcterms:created xsi:type="dcterms:W3CDTF">2013-01-27T09:14:16Z</dcterms:created>
  <dcterms:modified xsi:type="dcterms:W3CDTF">2026-08-19T20:01:30Z</dcterms:modified>
  <cp:category/>
</cp:coreProperties>
</file>